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25" autoAdjust="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8CD537-3330-4ADA-AA8A-21E86993912F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4B6F2-A443-4437-984D-48C6A8315E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047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4B6F2-A443-4437-984D-48C6A8315EC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343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35C2DF-3797-2144-7AAE-9B1F6FEF6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184AF5-5B88-0D25-3742-E48C538BE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CD73C7-B50E-B82C-133A-48656673F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A7B95-7C9D-44A6-9C64-D1504EF63103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D95364-21AD-B608-3728-748F506FA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65FF08-BC5E-DD1C-218A-8E879E33E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14E9-9495-4456-9764-5ABAFD82B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967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2C4B94-0B89-95D7-DF6A-BF7DCCA20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893F37-F051-4D52-380A-B0D6A9607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480BDB-5247-B450-2309-B8755316B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A7B95-7C9D-44A6-9C64-D1504EF63103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4D6A25-2F6B-DFC9-4034-8C3D6EF9B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5216A9-DDBB-E9B6-2474-A4D538BC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14E9-9495-4456-9764-5ABAFD82B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773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3EAEA-3B25-7DF6-E44E-BC7B1A5F8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A4FF2B-4903-7D63-3679-445E69BA4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48ED5E-4557-E4C2-6365-C86A2B470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A7B95-7C9D-44A6-9C64-D1504EF63103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798B47-E806-5AF9-D995-B17E9649E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F02839-B916-ACEE-A969-034560D0E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14E9-9495-4456-9764-5ABAFD82B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12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E922A-26B6-FD54-5FF9-23D0C9DDA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0DD2F2-234C-BD74-A675-9E98439D0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AF84E8-9837-9A76-230E-AB43F6EAC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64B559-363D-9EC4-2753-A595D8036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A7B95-7C9D-44A6-9C64-D1504EF63103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17FB05-3419-793F-A04C-BA6D85ED4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01D0D1-56D7-20AC-8BD1-B9D40C0C9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14E9-9495-4456-9764-5ABAFD82B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580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BCAA5-A718-248C-C9E3-C5EEF09D8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C92A12-96CA-6189-BA44-D342120CA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9C6ACB-3639-2D94-3F76-0280B5B43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499BAC-B333-6D38-242A-E6DBFA3880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D90CB3-86D3-E258-44EF-8DEFE831D9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C0853B0-30EF-F3D8-666E-86B229C9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A7B95-7C9D-44A6-9C64-D1504EF63103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6D5796C-C7E6-EF35-B2BF-DF377BB57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B8025B2-D563-8713-3D74-F3794665B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14E9-9495-4456-9764-5ABAFD82B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268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D2B4A-3BDE-2E5B-E1A2-EF97B4F39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58E2AA-59DD-39E8-2B17-ACDFB5476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A7B95-7C9D-44A6-9C64-D1504EF63103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6765A9-4B25-5CB2-9E74-2D76E2CE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D83089-1988-037B-DD62-5E673977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14E9-9495-4456-9764-5ABAFD82B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452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88A4CD-F783-2B3E-A80D-D8C403B4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A7B95-7C9D-44A6-9C64-D1504EF63103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93BC22-D19E-DD6B-9952-6382FF7C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71AD8B-3AEC-6A37-4B48-98B1943F7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14E9-9495-4456-9764-5ABAFD82B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584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32A163-9617-4BC7-5E92-EF395BCC3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F9D33A-815A-5A8C-0F2F-7F2C3D195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0C2BBA-16EA-FE05-DDA6-695D56CB9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7030D4-75E5-317F-6675-D09803785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A7B95-7C9D-44A6-9C64-D1504EF63103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A3EBA2-71B5-D670-4317-E60250FFF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31E0CC-7D84-0B2A-FCBD-3A644E837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14E9-9495-4456-9764-5ABAFD82B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793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3B7D64-1C30-D643-CC03-09226910B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E808A49-AF52-4318-B375-163F71E59C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C9A177-DE11-47A6-3554-20DBC5F48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45F599-4AA1-EACA-E3C5-A7053800F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A7B95-7C9D-44A6-9C64-D1504EF63103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049051-BD3B-D03B-74DE-5BD39DF8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C73A0B-099F-6BD7-907E-3CD812CE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14E9-9495-4456-9764-5ABAFD82B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815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CDEE3-C1E0-2651-7429-A4DCC9353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E2100E-5F4B-B53A-EB1D-293C91B1C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56C3ED-8B8B-FCE6-EB47-C23A0E8C5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A7B95-7C9D-44A6-9C64-D1504EF63103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D35172-D0D3-5590-E18D-0741E55E2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9BBCF5-1EC9-BAA9-E080-99C5BB0B9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14E9-9495-4456-9764-5ABAFD82B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931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CEB266-5EC9-0F8F-7B65-78F5C6084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ED962A-CC23-99C3-BB40-2FCDB7FBB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BD7B67-28F1-5E31-C6BF-5AF223FEE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A7B95-7C9D-44A6-9C64-D1504EF63103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24FCBF-BBFC-F826-3BE5-732FBE48E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3D63FD-183F-70F6-9E66-AE8B4CAE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E14E9-9495-4456-9764-5ABAFD82B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185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7EDDAF-AFB2-4634-E985-A23682432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FA5EA3-874C-E996-441F-AE34E8028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85ED35-924F-18BF-2F3A-B1FE346A7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A7B95-7C9D-44A6-9C64-D1504EF63103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5111A4-C083-1611-3542-ABB3ED3ED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EDEFCA-98AB-0CBB-F98C-405955A5F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6E14E9-9495-4456-9764-5ABAFD82BF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013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DFD1B66-162D-3964-7A43-969E4FF11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081" y="262299"/>
            <a:ext cx="1212996" cy="6479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A503AB6-7016-A57C-8BF1-F6407E046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092" y="1460499"/>
            <a:ext cx="1031838" cy="64668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D85BB7B-ED6F-6FC8-055D-2AE3C2AB6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78" y="2360311"/>
            <a:ext cx="1031838" cy="45176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A1B291B-7856-0CBF-1558-3D36946C82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9400" y="500737"/>
            <a:ext cx="1460236" cy="214122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DC34148-4A3E-C6B6-D0FE-46AF633C3C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1308" y="671734"/>
            <a:ext cx="1304926" cy="7709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73301FE-C830-3BCF-21A2-3043C8951E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2681" y="1481867"/>
            <a:ext cx="1237174" cy="110188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3ED9F6B-9551-02B8-1C79-CE5C43A5D5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5212" y="776897"/>
            <a:ext cx="927357" cy="106552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B1D531D-98A8-81F9-1B92-1FFFF4A145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2645" y="2048013"/>
            <a:ext cx="2149133" cy="8007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D7976FF-297F-C78C-89CE-8D9165D6A5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72645" y="2422043"/>
            <a:ext cx="1653585" cy="13299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028743F-F231-9599-B932-46D11B658C4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82693" y="2624340"/>
            <a:ext cx="1533381" cy="453697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10C6CAC-ECDD-C497-675F-53E9D5AF74B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5082" y="3341262"/>
            <a:ext cx="1279227" cy="394106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732C9E02-A92C-B944-CE18-DF348123074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0551" y="2979176"/>
            <a:ext cx="1357068" cy="180592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6115D62-35E4-DD23-C251-AF99EC81070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60550" y="3585520"/>
            <a:ext cx="968749" cy="237618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31B8D384-6F9C-A3F5-FE68-D4E69243061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60551" y="3860404"/>
            <a:ext cx="1144962" cy="322988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3F3B96CA-B705-F8B2-BF2A-883637887A4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38212" y="3385702"/>
            <a:ext cx="1465080" cy="835425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CFB64174-21B2-95BD-D5C9-BF62854496D3}"/>
              </a:ext>
            </a:extLst>
          </p:cNvPr>
          <p:cNvSpPr txBox="1"/>
          <p:nvPr/>
        </p:nvSpPr>
        <p:spPr>
          <a:xfrm>
            <a:off x="6540812" y="58525"/>
            <a:ext cx="2030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b="1" dirty="0"/>
              <a:t>注册</a:t>
            </a:r>
            <a:r>
              <a:rPr lang="en-US" altLang="zh-CN" sz="400" b="1" dirty="0"/>
              <a:t>uart_driver</a:t>
            </a:r>
            <a:r>
              <a:rPr lang="zh-CN" altLang="en-US" sz="400" b="1" dirty="0"/>
              <a:t>本质是构造并注册</a:t>
            </a:r>
            <a:r>
              <a:rPr lang="en-US" altLang="zh-CN" sz="400" b="1" dirty="0"/>
              <a:t>tty_driver</a:t>
            </a:r>
            <a:r>
              <a:rPr lang="en-US" altLang="zh-CN" sz="400" dirty="0"/>
              <a:t>,</a:t>
            </a:r>
            <a:r>
              <a:rPr lang="zh-CN" altLang="en-US" sz="400" dirty="0"/>
              <a:t>因此：</a:t>
            </a:r>
            <a:endParaRPr lang="en-US" altLang="zh-CN" sz="400" dirty="0"/>
          </a:p>
          <a:p>
            <a:r>
              <a:rPr lang="en-US" altLang="zh-CN" sz="400" dirty="0"/>
              <a:t>1.</a:t>
            </a:r>
            <a:r>
              <a:rPr lang="zh-CN" altLang="en-US" sz="400" dirty="0"/>
              <a:t>动态分配一个</a:t>
            </a:r>
            <a:r>
              <a:rPr lang="en-US" altLang="zh-CN" sz="400" dirty="0"/>
              <a:t>tty_driver</a:t>
            </a:r>
            <a:r>
              <a:rPr lang="zh-CN" altLang="en-US" sz="400" dirty="0"/>
              <a:t>结构体并把</a:t>
            </a:r>
            <a:r>
              <a:rPr lang="en-US" altLang="zh-CN" sz="400" dirty="0"/>
              <a:t>uart_driver</a:t>
            </a:r>
            <a:r>
              <a:rPr lang="zh-CN" altLang="en-US" sz="400" dirty="0"/>
              <a:t>的信息</a:t>
            </a:r>
            <a:r>
              <a:rPr lang="en-US" altLang="zh-CN" sz="400" dirty="0"/>
              <a:t>(</a:t>
            </a:r>
            <a:r>
              <a:rPr lang="zh-CN" altLang="en-US" sz="400" dirty="0"/>
              <a:t>驱动名、设备名、设备号</a:t>
            </a:r>
            <a:r>
              <a:rPr lang="en-US" altLang="zh-CN" sz="400" dirty="0"/>
              <a:t>)</a:t>
            </a:r>
            <a:r>
              <a:rPr lang="zh-CN" altLang="en-US" sz="400" dirty="0"/>
              <a:t>记录在</a:t>
            </a:r>
            <a:r>
              <a:rPr lang="en-US" altLang="zh-CN" sz="400" dirty="0"/>
              <a:t>tty_driver</a:t>
            </a:r>
            <a:r>
              <a:rPr lang="zh-CN" altLang="en-US" sz="400" dirty="0"/>
              <a:t>中，</a:t>
            </a:r>
            <a:r>
              <a:rPr lang="en-US" altLang="zh-CN" sz="400" dirty="0"/>
              <a:t>uart_driver</a:t>
            </a:r>
            <a:r>
              <a:rPr lang="zh-CN" altLang="en-US" sz="400" dirty="0"/>
              <a:t>结构体中有一个</a:t>
            </a:r>
            <a:r>
              <a:rPr lang="en-US" altLang="zh-CN" sz="400" b="1" dirty="0"/>
              <a:t>tty_driver</a:t>
            </a:r>
            <a:r>
              <a:rPr lang="zh-CN" altLang="en-US" sz="400" b="1" dirty="0"/>
              <a:t>类型的结构体指针</a:t>
            </a:r>
            <a:r>
              <a:rPr lang="zh-CN" altLang="en-US" sz="400" dirty="0"/>
              <a:t>指向这个</a:t>
            </a:r>
            <a:r>
              <a:rPr lang="en-US" altLang="zh-CN" sz="400" dirty="0"/>
              <a:t>tty_driver</a:t>
            </a:r>
            <a:r>
              <a:rPr lang="zh-CN" altLang="en-US" sz="400" dirty="0"/>
              <a:t>。</a:t>
            </a:r>
            <a:endParaRPr lang="en-US" altLang="zh-CN" sz="400" dirty="0"/>
          </a:p>
          <a:p>
            <a:r>
              <a:rPr lang="en-US" altLang="zh-CN" sz="400" dirty="0"/>
              <a:t>2.</a:t>
            </a:r>
            <a:r>
              <a:rPr lang="zh-CN" altLang="en-US" sz="400" b="1" dirty="0"/>
              <a:t>在</a:t>
            </a:r>
            <a:r>
              <a:rPr lang="en-US" altLang="zh-CN" sz="400" b="1" dirty="0"/>
              <a:t>uart_driver</a:t>
            </a:r>
            <a:r>
              <a:rPr lang="zh-CN" altLang="en-US" sz="400" b="1" dirty="0"/>
              <a:t>中为每个</a:t>
            </a:r>
            <a:r>
              <a:rPr lang="en-US" altLang="zh-CN" sz="400" b="1" dirty="0"/>
              <a:t>port</a:t>
            </a:r>
            <a:r>
              <a:rPr lang="zh-CN" altLang="en-US" sz="400" b="1" dirty="0"/>
              <a:t>都分配一个</a:t>
            </a:r>
            <a:r>
              <a:rPr lang="en-US" altLang="zh-CN" sz="400" b="1" dirty="0"/>
              <a:t>uart_state</a:t>
            </a:r>
            <a:r>
              <a:rPr lang="zh-CN" altLang="en-US" sz="400" b="1" dirty="0"/>
              <a:t>结构体</a:t>
            </a:r>
            <a:r>
              <a:rPr lang="zh-CN" altLang="en-US" sz="400" dirty="0"/>
              <a:t>，里面包含</a:t>
            </a:r>
            <a:r>
              <a:rPr lang="en-US" altLang="zh-CN" sz="400" dirty="0"/>
              <a:t>uart_port</a:t>
            </a:r>
            <a:r>
              <a:rPr lang="zh-CN" altLang="en-US" sz="400" dirty="0"/>
              <a:t>结构体指针与</a:t>
            </a:r>
            <a:r>
              <a:rPr lang="en-US" altLang="zh-CN" sz="400" dirty="0"/>
              <a:t>tty_port</a:t>
            </a:r>
            <a:r>
              <a:rPr lang="zh-CN" altLang="en-US" sz="400" dirty="0"/>
              <a:t>结构体变量。</a:t>
            </a:r>
            <a:endParaRPr lang="en-US" altLang="zh-CN" sz="4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E3897F0-23F3-8492-7515-0BB2B223DDD6}"/>
              </a:ext>
            </a:extLst>
          </p:cNvPr>
          <p:cNvSpPr txBox="1"/>
          <p:nvPr/>
        </p:nvSpPr>
        <p:spPr>
          <a:xfrm>
            <a:off x="8228243" y="423921"/>
            <a:ext cx="2918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b="1" dirty="0"/>
              <a:t>有多少个</a:t>
            </a:r>
            <a:r>
              <a:rPr lang="en-US" altLang="zh-CN" sz="400" b="1" dirty="0"/>
              <a:t>port</a:t>
            </a:r>
            <a:r>
              <a:rPr lang="zh-CN" altLang="en-US" sz="400" b="1" dirty="0"/>
              <a:t>就在</a:t>
            </a:r>
            <a:r>
              <a:rPr lang="en-US" altLang="zh-CN" sz="400" b="1" dirty="0"/>
              <a:t>tty_driver</a:t>
            </a:r>
            <a:r>
              <a:rPr lang="zh-CN" altLang="en-US" sz="400" b="1" dirty="0"/>
              <a:t>中</a:t>
            </a:r>
            <a:r>
              <a:rPr lang="zh-CN" altLang="en-US" sz="400" b="1" dirty="0">
                <a:solidFill>
                  <a:srgbClr val="EE0000"/>
                </a:solidFill>
              </a:rPr>
              <a:t>预留分配</a:t>
            </a:r>
            <a:r>
              <a:rPr lang="zh-CN" altLang="en-US" sz="400" b="1" dirty="0"/>
              <a:t>多少项</a:t>
            </a:r>
            <a:r>
              <a:rPr lang="en-US" altLang="zh-CN" sz="400" b="1" dirty="0"/>
              <a:t>cdev</a:t>
            </a:r>
            <a:r>
              <a:rPr lang="zh-CN" altLang="en-US" sz="400" b="1" dirty="0"/>
              <a:t>结构体指针数组（</a:t>
            </a:r>
            <a:r>
              <a:rPr lang="zh-CN" altLang="en-US" sz="400" b="1" dirty="0">
                <a:solidFill>
                  <a:srgbClr val="EE0000"/>
                </a:solidFill>
              </a:rPr>
              <a:t>在</a:t>
            </a:r>
            <a:r>
              <a:rPr lang="en-US" altLang="zh-CN" sz="400" b="1" dirty="0">
                <a:solidFill>
                  <a:srgbClr val="EE0000"/>
                </a:solidFill>
              </a:rPr>
              <a:t>uart_add_one_port</a:t>
            </a:r>
            <a:r>
              <a:rPr lang="zh-CN" altLang="en-US" sz="400" b="1" dirty="0">
                <a:solidFill>
                  <a:srgbClr val="EE0000"/>
                </a:solidFill>
              </a:rPr>
              <a:t>的时候设置当前</a:t>
            </a:r>
            <a:r>
              <a:rPr lang="en-US" altLang="zh-CN" sz="400" b="1" dirty="0">
                <a:solidFill>
                  <a:srgbClr val="EE0000"/>
                </a:solidFill>
              </a:rPr>
              <a:t>port</a:t>
            </a:r>
            <a:r>
              <a:rPr lang="zh-CN" altLang="en-US" sz="400" b="1" dirty="0">
                <a:solidFill>
                  <a:srgbClr val="EE0000"/>
                </a:solidFill>
              </a:rPr>
              <a:t>的</a:t>
            </a:r>
            <a:r>
              <a:rPr lang="en-US" altLang="zh-CN" sz="400" b="1" dirty="0">
                <a:solidFill>
                  <a:srgbClr val="EE0000"/>
                </a:solidFill>
              </a:rPr>
              <a:t>cdev</a:t>
            </a:r>
            <a:r>
              <a:rPr lang="zh-CN" altLang="en-US" sz="400" b="1" dirty="0">
                <a:solidFill>
                  <a:srgbClr val="EE0000"/>
                </a:solidFill>
              </a:rPr>
              <a:t>的</a:t>
            </a:r>
            <a:r>
              <a:rPr lang="en-US" altLang="zh-CN" sz="400" b="1" dirty="0">
                <a:solidFill>
                  <a:srgbClr val="EE0000"/>
                </a:solidFill>
              </a:rPr>
              <a:t>fops</a:t>
            </a:r>
            <a:r>
              <a:rPr lang="zh-CN" altLang="en-US" sz="400" b="1" dirty="0">
                <a:solidFill>
                  <a:srgbClr val="EE0000"/>
                </a:solidFill>
              </a:rPr>
              <a:t>和初始化、注册</a:t>
            </a:r>
            <a:r>
              <a:rPr lang="en-US" altLang="zh-CN" sz="400" b="1" dirty="0">
                <a:solidFill>
                  <a:srgbClr val="EE0000"/>
                </a:solidFill>
              </a:rPr>
              <a:t>cdev</a:t>
            </a:r>
            <a:r>
              <a:rPr lang="zh-CN" altLang="en-US" sz="400" b="1" dirty="0"/>
              <a:t>）、</a:t>
            </a:r>
            <a:r>
              <a:rPr lang="en-US" altLang="zh-CN" sz="400" b="1" dirty="0"/>
              <a:t>termios</a:t>
            </a:r>
            <a:r>
              <a:rPr lang="zh-CN" altLang="en-US" sz="400" b="1" dirty="0"/>
              <a:t>结构体指针数组、</a:t>
            </a:r>
            <a:r>
              <a:rPr lang="en-US" altLang="zh-CN" sz="400" b="1" dirty="0"/>
              <a:t>tty_struct</a:t>
            </a:r>
            <a:r>
              <a:rPr lang="zh-CN" altLang="en-US" sz="400" b="1" dirty="0"/>
              <a:t>指针数组、</a:t>
            </a:r>
            <a:r>
              <a:rPr lang="en-US" altLang="zh-CN" sz="400" b="1" dirty="0"/>
              <a:t>tty_port</a:t>
            </a:r>
            <a:r>
              <a:rPr lang="zh-CN" altLang="en-US" sz="400" b="1" dirty="0"/>
              <a:t>结构体指针数组</a:t>
            </a:r>
            <a:r>
              <a:rPr lang="en-US" altLang="zh-CN" sz="400" dirty="0"/>
              <a:t>(</a:t>
            </a:r>
            <a:r>
              <a:rPr lang="en-US" altLang="zh-CN" sz="400" b="1" dirty="0"/>
              <a:t>tty_port</a:t>
            </a:r>
            <a:r>
              <a:rPr lang="zh-CN" altLang="en-US" sz="400" b="1" dirty="0"/>
              <a:t>结构体指针指向</a:t>
            </a:r>
            <a:r>
              <a:rPr lang="en-US" altLang="zh-CN" sz="400" b="1" dirty="0"/>
              <a:t>uart_state</a:t>
            </a:r>
            <a:r>
              <a:rPr lang="zh-CN" altLang="en-US" sz="400" b="1" dirty="0"/>
              <a:t>中的</a:t>
            </a:r>
            <a:r>
              <a:rPr lang="en-US" altLang="zh-CN" sz="400" b="1" dirty="0"/>
              <a:t>tty_port</a:t>
            </a:r>
            <a:r>
              <a:rPr lang="en-US" altLang="zh-CN" sz="400" dirty="0"/>
              <a:t>)</a:t>
            </a:r>
            <a:endParaRPr lang="zh-CN" altLang="en-US" sz="400" dirty="0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9F86BD2D-5E2C-86B0-3175-BD530442DD0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05338" y="1882018"/>
            <a:ext cx="1653584" cy="71687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51CF8285-1F37-C404-6326-13D2295DD44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14574" y="2174503"/>
            <a:ext cx="1407082" cy="803099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C1BEB8C1-9837-7E9A-C63C-6D13FE1D7A4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02814" y="3203512"/>
            <a:ext cx="1488517" cy="955861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468951E5-FFC8-59B1-BE7D-DBEC3DAD02C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89996" y="4315461"/>
            <a:ext cx="1514151" cy="123766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F7CE185B-F035-9D6C-1C87-4408154390E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35621" y="302861"/>
            <a:ext cx="1144882" cy="547711"/>
          </a:xfrm>
          <a:prstGeom prst="rect">
            <a:avLst/>
          </a:prstGeom>
        </p:spPr>
      </p:pic>
      <p:cxnSp>
        <p:nvCxnSpPr>
          <p:cNvPr id="3" name="连接符: 曲线 2">
            <a:extLst>
              <a:ext uri="{FF2B5EF4-FFF2-40B4-BE49-F238E27FC236}">
                <a16:creationId xmlns:a16="http://schemas.microsoft.com/office/drawing/2014/main" id="{EE9A60B7-D404-DB6B-29A9-C7185D7F2990}"/>
              </a:ext>
            </a:extLst>
          </p:cNvPr>
          <p:cNvCxnSpPr>
            <a:cxnSpLocks/>
            <a:stCxn id="47" idx="3"/>
            <a:endCxn id="21" idx="1"/>
          </p:cNvCxnSpPr>
          <p:nvPr/>
        </p:nvCxnSpPr>
        <p:spPr>
          <a:xfrm flipV="1">
            <a:off x="3504147" y="2088051"/>
            <a:ext cx="668498" cy="228929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5E9DCEC-33ED-C1A3-34B7-66A39682B78F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4949384" y="3078037"/>
            <a:ext cx="0" cy="257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87804BAB-B278-AFD4-04B7-1B1F51FAEB27}"/>
              </a:ext>
            </a:extLst>
          </p:cNvPr>
          <p:cNvCxnSpPr>
            <a:cxnSpLocks/>
            <a:stCxn id="25" idx="3"/>
            <a:endCxn id="29" idx="0"/>
          </p:cNvCxnSpPr>
          <p:nvPr/>
        </p:nvCxnSpPr>
        <p:spPr>
          <a:xfrm>
            <a:off x="5716074" y="2851189"/>
            <a:ext cx="1223011" cy="12798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451B578C-1AC7-6788-5505-FF5E5767223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58298" y="3203512"/>
            <a:ext cx="1292075" cy="257017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EBEF6452-31C1-43B6-68E2-50CC0A8B27A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60550" y="4218006"/>
            <a:ext cx="1076402" cy="999812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829B9A25-9F17-FCE1-F77B-F3C8F2FE86E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1233" y="3188862"/>
            <a:ext cx="1384868" cy="1678873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A53A13B0-285D-9572-FCA1-18E5A76F8EC3}"/>
              </a:ext>
            </a:extLst>
          </p:cNvPr>
          <p:cNvSpPr txBox="1"/>
          <p:nvPr/>
        </p:nvSpPr>
        <p:spPr>
          <a:xfrm>
            <a:off x="4399315" y="123446"/>
            <a:ext cx="89064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imx_reg</a:t>
            </a:r>
            <a:r>
              <a:rPr lang="zh-CN" altLang="en-US" sz="400" dirty="0"/>
              <a:t>为</a:t>
            </a:r>
            <a:r>
              <a:rPr lang="en-US" altLang="zh-CN" sz="400" dirty="0"/>
              <a:t>uart_driver</a:t>
            </a:r>
            <a:r>
              <a:rPr lang="zh-CN" altLang="en-US" sz="400" dirty="0"/>
              <a:t>结构体类型</a:t>
            </a:r>
          </a:p>
        </p:txBody>
      </p:sp>
      <p:cxnSp>
        <p:nvCxnSpPr>
          <p:cNvPr id="40" name="连接符: 曲线 39">
            <a:extLst>
              <a:ext uri="{FF2B5EF4-FFF2-40B4-BE49-F238E27FC236}">
                <a16:creationId xmlns:a16="http://schemas.microsoft.com/office/drawing/2014/main" id="{E9365409-F15D-1486-94BB-DA3171C7EB1B}"/>
              </a:ext>
            </a:extLst>
          </p:cNvPr>
          <p:cNvCxnSpPr>
            <a:cxnSpLocks/>
            <a:stCxn id="49" idx="1"/>
          </p:cNvCxnSpPr>
          <p:nvPr/>
        </p:nvCxnSpPr>
        <p:spPr>
          <a:xfrm rot="10800000" flipV="1">
            <a:off x="1979135" y="576716"/>
            <a:ext cx="556487" cy="134843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曲线 43">
            <a:extLst>
              <a:ext uri="{FF2B5EF4-FFF2-40B4-BE49-F238E27FC236}">
                <a16:creationId xmlns:a16="http://schemas.microsoft.com/office/drawing/2014/main" id="{481973BE-1316-1B96-E45D-ACB0980EB41E}"/>
              </a:ext>
            </a:extLst>
          </p:cNvPr>
          <p:cNvCxnSpPr>
            <a:cxnSpLocks/>
          </p:cNvCxnSpPr>
          <p:nvPr/>
        </p:nvCxnSpPr>
        <p:spPr>
          <a:xfrm>
            <a:off x="5457825" y="399277"/>
            <a:ext cx="1211575" cy="18700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A6F1E935-0B4E-D64C-1D25-7D0BBABD0B58}"/>
              </a:ext>
            </a:extLst>
          </p:cNvPr>
          <p:cNvCxnSpPr>
            <a:cxnSpLocks/>
          </p:cNvCxnSpPr>
          <p:nvPr/>
        </p:nvCxnSpPr>
        <p:spPr>
          <a:xfrm rot="10800000">
            <a:off x="3701942" y="642172"/>
            <a:ext cx="768246" cy="469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箭头: 左 51">
            <a:extLst>
              <a:ext uri="{FF2B5EF4-FFF2-40B4-BE49-F238E27FC236}">
                <a16:creationId xmlns:a16="http://schemas.microsoft.com/office/drawing/2014/main" id="{C5D3A90A-95B6-AE79-1554-9C2CAAEEE66D}"/>
              </a:ext>
            </a:extLst>
          </p:cNvPr>
          <p:cNvSpPr/>
          <p:nvPr/>
        </p:nvSpPr>
        <p:spPr>
          <a:xfrm>
            <a:off x="1799963" y="3262313"/>
            <a:ext cx="171333" cy="45719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65477A7-1429-069C-7BCC-207DCE60205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2304" y="367091"/>
            <a:ext cx="1092933" cy="698479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10D03408-59EF-919E-C056-AA3B64F92E87}"/>
              </a:ext>
            </a:extLst>
          </p:cNvPr>
          <p:cNvSpPr txBox="1"/>
          <p:nvPr/>
        </p:nvSpPr>
        <p:spPr>
          <a:xfrm>
            <a:off x="1931829" y="1970992"/>
            <a:ext cx="16764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b="1" dirty="0"/>
              <a:t>1.</a:t>
            </a:r>
            <a:r>
              <a:rPr lang="zh-CN" altLang="en-US" sz="400" b="1" dirty="0"/>
              <a:t>从设备树中获取这个匹配成功的</a:t>
            </a:r>
            <a:r>
              <a:rPr lang="en-US" altLang="zh-CN" sz="400" b="1" dirty="0"/>
              <a:t>platform_device</a:t>
            </a:r>
            <a:r>
              <a:rPr lang="zh-CN" altLang="en-US" sz="400" b="1" dirty="0"/>
              <a:t>的硬件信息，</a:t>
            </a:r>
            <a:r>
              <a:rPr lang="zh-CN" altLang="en-US" sz="400" dirty="0"/>
              <a:t>准备写入到</a:t>
            </a:r>
            <a:r>
              <a:rPr lang="en-US" altLang="zh-CN" sz="400" dirty="0"/>
              <a:t>uart_port</a:t>
            </a:r>
            <a:r>
              <a:rPr lang="zh-CN" altLang="en-US" sz="400" dirty="0"/>
              <a:t>结构体中去</a:t>
            </a: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35E1D443-DBEF-7115-0D98-D4F35F5F703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178113" y="2162066"/>
            <a:ext cx="589740" cy="217057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C3DE38E5-A663-48F5-B093-7D694DDA4975}"/>
              </a:ext>
            </a:extLst>
          </p:cNvPr>
          <p:cNvSpPr txBox="1"/>
          <p:nvPr/>
        </p:nvSpPr>
        <p:spPr>
          <a:xfrm>
            <a:off x="1914417" y="3001092"/>
            <a:ext cx="17912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2.</a:t>
            </a:r>
            <a:r>
              <a:rPr lang="zh-CN" altLang="en-US" sz="400" dirty="0"/>
              <a:t>设置</a:t>
            </a:r>
            <a:r>
              <a:rPr lang="en-US" altLang="zh-CN" sz="400" dirty="0"/>
              <a:t>uart_port</a:t>
            </a:r>
            <a:r>
              <a:rPr lang="zh-CN" altLang="en-US" sz="400" dirty="0"/>
              <a:t>结构体：</a:t>
            </a:r>
            <a:r>
              <a:rPr lang="zh-CN" altLang="en-US" sz="400" dirty="0">
                <a:solidFill>
                  <a:srgbClr val="EE0000"/>
                </a:solidFill>
              </a:rPr>
              <a:t>包含 </a:t>
            </a:r>
            <a:r>
              <a:rPr lang="en-US" altLang="zh-CN" sz="400" dirty="0">
                <a:solidFill>
                  <a:srgbClr val="EE0000"/>
                </a:solidFill>
              </a:rPr>
              <a:t>UART </a:t>
            </a:r>
            <a:r>
              <a:rPr lang="zh-CN" altLang="en-US" sz="400" dirty="0">
                <a:solidFill>
                  <a:srgbClr val="EE0000"/>
                </a:solidFill>
              </a:rPr>
              <a:t>硬件的关键信息：</a:t>
            </a:r>
            <a:r>
              <a:rPr lang="en-US" altLang="zh-CN" sz="400" dirty="0">
                <a:solidFill>
                  <a:srgbClr val="EE0000"/>
                </a:solidFill>
              </a:rPr>
              <a:t>IO </a:t>
            </a:r>
            <a:r>
              <a:rPr lang="zh-CN" altLang="en-US" sz="400" dirty="0">
                <a:solidFill>
                  <a:srgbClr val="EE0000"/>
                </a:solidFill>
              </a:rPr>
              <a:t>端口地址、中断号、波特率等，</a:t>
            </a:r>
            <a:r>
              <a:rPr lang="zh-CN" altLang="en-US" sz="400" dirty="0"/>
              <a:t>以及</a:t>
            </a:r>
            <a:r>
              <a:rPr lang="zh-CN" altLang="en-US" sz="400" dirty="0">
                <a:solidFill>
                  <a:srgbClr val="EE0000"/>
                </a:solidFill>
              </a:rPr>
              <a:t>使用函数指针关联硬件相关的操作函数（</a:t>
            </a:r>
            <a:r>
              <a:rPr lang="en-US" altLang="zh-CN" sz="400" dirty="0">
                <a:solidFill>
                  <a:srgbClr val="EE0000"/>
                </a:solidFill>
              </a:rPr>
              <a:t>uart_ops</a:t>
            </a:r>
            <a:r>
              <a:rPr lang="zh-CN" altLang="en-US" sz="400" dirty="0">
                <a:solidFill>
                  <a:srgbClr val="EE0000"/>
                </a:solidFill>
              </a:rPr>
              <a:t>）</a:t>
            </a:r>
            <a:endParaRPr lang="zh-CN" altLang="en-US" sz="4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85629593-5970-B9CA-01AF-6706DF186DE7}"/>
              </a:ext>
            </a:extLst>
          </p:cNvPr>
          <p:cNvSpPr txBox="1"/>
          <p:nvPr/>
        </p:nvSpPr>
        <p:spPr>
          <a:xfrm>
            <a:off x="353183" y="2939537"/>
            <a:ext cx="1513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MX </a:t>
            </a:r>
            <a:r>
              <a:rPr lang="zh-CN" altLang="en-US" sz="400" dirty="0"/>
              <a:t>系列 </a:t>
            </a:r>
            <a:r>
              <a:rPr lang="en-US" altLang="zh-CN" sz="400" dirty="0"/>
              <a:t>SOC</a:t>
            </a:r>
            <a:r>
              <a:rPr lang="zh-CN" altLang="en-US" sz="400" dirty="0"/>
              <a:t>的 </a:t>
            </a:r>
            <a:r>
              <a:rPr lang="en-US" altLang="zh-CN" sz="400" dirty="0"/>
              <a:t>UART </a:t>
            </a:r>
            <a:r>
              <a:rPr lang="zh-CN" altLang="en-US" sz="400" dirty="0"/>
              <a:t>是对通用 </a:t>
            </a:r>
            <a:r>
              <a:rPr lang="en-US" altLang="zh-CN" sz="400" dirty="0"/>
              <a:t>UART </a:t>
            </a:r>
            <a:r>
              <a:rPr lang="zh-CN" altLang="en-US" sz="400" dirty="0"/>
              <a:t>的硬件扩展，因此</a:t>
            </a:r>
            <a:r>
              <a:rPr lang="en-US" altLang="zh-CN" sz="400" dirty="0">
                <a:solidFill>
                  <a:srgbClr val="EE0000"/>
                </a:solidFill>
              </a:rPr>
              <a:t>imx_port</a:t>
            </a:r>
            <a:r>
              <a:rPr lang="zh-CN" altLang="en-US" sz="400" dirty="0">
                <a:solidFill>
                  <a:srgbClr val="EE0000"/>
                </a:solidFill>
              </a:rPr>
              <a:t>包含（继承） 通用的</a:t>
            </a:r>
            <a:r>
              <a:rPr lang="en-US" altLang="zh-CN" sz="400" dirty="0">
                <a:solidFill>
                  <a:srgbClr val="EE0000"/>
                </a:solidFill>
              </a:rPr>
              <a:t>uart_port(</a:t>
            </a:r>
            <a:r>
              <a:rPr lang="zh-CN" altLang="en-US" sz="400" dirty="0">
                <a:solidFill>
                  <a:srgbClr val="EE0000"/>
                </a:solidFill>
              </a:rPr>
              <a:t>硬件信息</a:t>
            </a:r>
            <a:r>
              <a:rPr lang="en-US" altLang="zh-CN" sz="400" dirty="0">
                <a:solidFill>
                  <a:srgbClr val="EE0000"/>
                </a:solidFill>
              </a:rPr>
              <a:t>)</a:t>
            </a:r>
            <a:r>
              <a:rPr lang="zh-CN" altLang="en-US" sz="400" dirty="0">
                <a:solidFill>
                  <a:srgbClr val="EE0000"/>
                </a:solidFill>
              </a:rPr>
              <a:t>，并添加 </a:t>
            </a:r>
            <a:r>
              <a:rPr lang="en-US" altLang="zh-CN" sz="400" dirty="0">
                <a:solidFill>
                  <a:srgbClr val="EE0000"/>
                </a:solidFill>
              </a:rPr>
              <a:t>IMX UART </a:t>
            </a:r>
            <a:r>
              <a:rPr lang="zh-CN" altLang="en-US" sz="400" dirty="0">
                <a:solidFill>
                  <a:srgbClr val="EE0000"/>
                </a:solidFill>
              </a:rPr>
              <a:t>的私有属性</a:t>
            </a:r>
            <a:r>
              <a:rPr lang="en-US" altLang="zh-CN" sz="400" dirty="0">
                <a:solidFill>
                  <a:srgbClr val="EE0000"/>
                </a:solidFill>
              </a:rPr>
              <a:t>(</a:t>
            </a:r>
            <a:r>
              <a:rPr lang="zh-CN" altLang="en-US" sz="400" dirty="0"/>
              <a:t>时钟、</a:t>
            </a:r>
            <a:r>
              <a:rPr lang="en-US" altLang="zh-CN" sz="400" dirty="0"/>
              <a:t>DMA</a:t>
            </a:r>
            <a:r>
              <a:rPr lang="zh-CN" altLang="en-US" sz="400" dirty="0"/>
              <a:t>、硬件标志等</a:t>
            </a:r>
            <a:r>
              <a:rPr lang="en-US" altLang="zh-CN" sz="400" dirty="0">
                <a:solidFill>
                  <a:srgbClr val="EE0000"/>
                </a:solidFill>
              </a:rPr>
              <a:t>)</a:t>
            </a:r>
            <a:endParaRPr lang="zh-CN" altLang="en-US" sz="400" dirty="0">
              <a:solidFill>
                <a:srgbClr val="EE0000"/>
              </a:solidFill>
            </a:endParaRPr>
          </a:p>
        </p:txBody>
      </p:sp>
      <p:pic>
        <p:nvPicPr>
          <p:cNvPr id="91" name="图片 90">
            <a:extLst>
              <a:ext uri="{FF2B5EF4-FFF2-40B4-BE49-F238E27FC236}">
                <a16:creationId xmlns:a16="http://schemas.microsoft.com/office/drawing/2014/main" id="{FBE8F427-2D05-4708-3606-3CF1EEEDC8D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904913" y="1102937"/>
            <a:ext cx="585591" cy="822213"/>
          </a:xfrm>
          <a:prstGeom prst="rect">
            <a:avLst/>
          </a:prstGeom>
        </p:spPr>
      </p:pic>
      <p:sp>
        <p:nvSpPr>
          <p:cNvPr id="92" name="箭头: 左 91">
            <a:extLst>
              <a:ext uri="{FF2B5EF4-FFF2-40B4-BE49-F238E27FC236}">
                <a16:creationId xmlns:a16="http://schemas.microsoft.com/office/drawing/2014/main" id="{B257A042-8D38-C492-567E-4CAE93C95860}"/>
              </a:ext>
            </a:extLst>
          </p:cNvPr>
          <p:cNvSpPr/>
          <p:nvPr/>
        </p:nvSpPr>
        <p:spPr>
          <a:xfrm>
            <a:off x="6498988" y="1688554"/>
            <a:ext cx="171333" cy="45719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11E3A3B1-D572-4B79-FFAF-F484FF22754C}"/>
              </a:ext>
            </a:extLst>
          </p:cNvPr>
          <p:cNvSpPr txBox="1"/>
          <p:nvPr/>
        </p:nvSpPr>
        <p:spPr>
          <a:xfrm>
            <a:off x="1926360" y="1740095"/>
            <a:ext cx="19455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b="1" dirty="0"/>
              <a:t>向</a:t>
            </a:r>
            <a:r>
              <a:rPr lang="en-US" altLang="zh-CN" sz="400" b="1" dirty="0"/>
              <a:t>uart_driver</a:t>
            </a:r>
            <a:r>
              <a:rPr lang="zh-CN" altLang="en-US" sz="400" b="1" dirty="0"/>
              <a:t>注册一个</a:t>
            </a:r>
            <a:r>
              <a:rPr lang="en-US" altLang="zh-CN" sz="400" b="1" dirty="0"/>
              <a:t>port</a:t>
            </a:r>
            <a:r>
              <a:rPr lang="zh-CN" altLang="en-US" sz="400" dirty="0">
                <a:solidFill>
                  <a:srgbClr val="EE0000"/>
                </a:solidFill>
              </a:rPr>
              <a:t>：需要定义这个</a:t>
            </a:r>
            <a:r>
              <a:rPr lang="en-US" altLang="zh-CN" sz="400" dirty="0">
                <a:solidFill>
                  <a:srgbClr val="EE0000"/>
                </a:solidFill>
              </a:rPr>
              <a:t>port</a:t>
            </a:r>
            <a:r>
              <a:rPr lang="zh-CN" altLang="en-US" sz="400" dirty="0">
                <a:solidFill>
                  <a:srgbClr val="EE0000"/>
                </a:solidFill>
              </a:rPr>
              <a:t>的硬件操作函数</a:t>
            </a:r>
            <a:r>
              <a:rPr lang="zh-CN" altLang="en-US" sz="400" dirty="0"/>
              <a:t>以及</a:t>
            </a:r>
            <a:r>
              <a:rPr lang="zh-CN" altLang="en-US" sz="400" dirty="0">
                <a:solidFill>
                  <a:srgbClr val="EE0000"/>
                </a:solidFill>
              </a:rPr>
              <a:t>硬件信息</a:t>
            </a:r>
          </a:p>
        </p:txBody>
      </p:sp>
      <p:pic>
        <p:nvPicPr>
          <p:cNvPr id="95" name="图片 94">
            <a:extLst>
              <a:ext uri="{FF2B5EF4-FFF2-40B4-BE49-F238E27FC236}">
                <a16:creationId xmlns:a16="http://schemas.microsoft.com/office/drawing/2014/main" id="{C8E4479E-9236-80DC-F59C-349E09ED6FEA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067863" y="1197165"/>
            <a:ext cx="695137" cy="772374"/>
          </a:xfrm>
          <a:prstGeom prst="rect">
            <a:avLst/>
          </a:prstGeom>
        </p:spPr>
      </p:pic>
      <p:cxnSp>
        <p:nvCxnSpPr>
          <p:cNvPr id="109" name="连接符: 曲线 108">
            <a:extLst>
              <a:ext uri="{FF2B5EF4-FFF2-40B4-BE49-F238E27FC236}">
                <a16:creationId xmlns:a16="http://schemas.microsoft.com/office/drawing/2014/main" id="{9F4835EB-355F-19CB-4D84-3AE353046F6B}"/>
              </a:ext>
            </a:extLst>
          </p:cNvPr>
          <p:cNvCxnSpPr>
            <a:cxnSpLocks/>
            <a:endCxn id="95" idx="0"/>
          </p:cNvCxnSpPr>
          <p:nvPr/>
        </p:nvCxnSpPr>
        <p:spPr>
          <a:xfrm rot="5400000" flipH="1" flipV="1">
            <a:off x="2896898" y="1231135"/>
            <a:ext cx="2552504" cy="2484564"/>
          </a:xfrm>
          <a:prstGeom prst="curvedConnector3">
            <a:avLst>
              <a:gd name="adj1" fmla="val 108956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115" name="图片 114">
            <a:extLst>
              <a:ext uri="{FF2B5EF4-FFF2-40B4-BE49-F238E27FC236}">
                <a16:creationId xmlns:a16="http://schemas.microsoft.com/office/drawing/2014/main" id="{25A7F5BC-6D84-2492-5460-DA36A8C8DE01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38212" y="4324808"/>
            <a:ext cx="1123137" cy="57637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976E48A-C3DC-98E9-2B9F-2FF215A80D97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35619" y="892972"/>
            <a:ext cx="1145693" cy="398368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C9B3ECFC-0631-B108-1940-A2EED959DD9F}"/>
              </a:ext>
            </a:extLst>
          </p:cNvPr>
          <p:cNvSpPr txBox="1"/>
          <p:nvPr/>
        </p:nvSpPr>
        <p:spPr>
          <a:xfrm>
            <a:off x="1926360" y="4166389"/>
            <a:ext cx="208745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3.</a:t>
            </a:r>
            <a:r>
              <a:rPr lang="zh-CN" altLang="en-US" sz="400" dirty="0"/>
              <a:t>向</a:t>
            </a:r>
            <a:r>
              <a:rPr lang="en-US" altLang="zh-CN" sz="400" dirty="0"/>
              <a:t>uart_driver</a:t>
            </a:r>
            <a:r>
              <a:rPr lang="zh-CN" altLang="en-US" sz="400" dirty="0"/>
              <a:t>注册一个</a:t>
            </a:r>
            <a:r>
              <a:rPr lang="en-US" altLang="zh-CN" sz="400" dirty="0"/>
              <a:t>uart_port</a:t>
            </a:r>
            <a:endParaRPr lang="zh-CN" altLang="en-US" sz="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DC106F7-3AA1-EC74-A720-E874A33D2EBA}"/>
              </a:ext>
            </a:extLst>
          </p:cNvPr>
          <p:cNvSpPr txBox="1"/>
          <p:nvPr/>
        </p:nvSpPr>
        <p:spPr>
          <a:xfrm>
            <a:off x="215692" y="1152471"/>
            <a:ext cx="16763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uart_driver</a:t>
            </a:r>
            <a:r>
              <a:rPr lang="zh-CN" altLang="en-US" sz="400" dirty="0"/>
              <a:t>中记录驱动、设备名称，主、次设备号以及</a:t>
            </a:r>
            <a:r>
              <a:rPr lang="en-US" altLang="zh-CN" sz="400" dirty="0"/>
              <a:t>port</a:t>
            </a:r>
            <a:r>
              <a:rPr lang="zh-CN" altLang="en-US" sz="400" dirty="0"/>
              <a:t>的数量和每个</a:t>
            </a:r>
            <a:r>
              <a:rPr lang="en-US" altLang="zh-CN" sz="400" dirty="0"/>
              <a:t>port</a:t>
            </a:r>
            <a:r>
              <a:rPr lang="zh-CN" altLang="en-US" sz="400" dirty="0"/>
              <a:t>的</a:t>
            </a:r>
            <a:r>
              <a:rPr lang="en-US" altLang="zh-CN" sz="400" b="1" dirty="0"/>
              <a:t>uart_state</a:t>
            </a:r>
            <a:r>
              <a:rPr lang="zh-CN" altLang="en-US" sz="400" b="1" dirty="0"/>
              <a:t>；</a:t>
            </a:r>
            <a:endParaRPr lang="en-US" altLang="zh-CN" sz="400" b="1" dirty="0"/>
          </a:p>
          <a:p>
            <a:r>
              <a:rPr lang="zh-CN" altLang="en-US" sz="400" dirty="0"/>
              <a:t>对应的</a:t>
            </a:r>
            <a:r>
              <a:rPr lang="en-US" altLang="zh-CN" sz="400" dirty="0"/>
              <a:t>tty_driver(</a:t>
            </a:r>
            <a:r>
              <a:rPr lang="zh-CN" altLang="en-US" sz="400" b="1" dirty="0"/>
              <a:t>指针指向它对应</a:t>
            </a:r>
            <a:r>
              <a:rPr lang="en-US" altLang="zh-CN" sz="400" b="1" dirty="0"/>
              <a:t>tty_driver</a:t>
            </a:r>
            <a:r>
              <a:rPr lang="zh-CN" altLang="en-US" sz="400" b="1" dirty="0"/>
              <a:t>，让</a:t>
            </a:r>
            <a:r>
              <a:rPr lang="en-US" altLang="zh-CN" sz="400" b="1" dirty="0"/>
              <a:t>add_one_port</a:t>
            </a:r>
            <a:r>
              <a:rPr lang="zh-CN" altLang="en-US" sz="400" b="1" dirty="0"/>
              <a:t>函数访问到对应</a:t>
            </a:r>
            <a:r>
              <a:rPr lang="en-US" altLang="zh-CN" sz="400" b="1" dirty="0"/>
              <a:t>tty_driver</a:t>
            </a:r>
            <a:r>
              <a:rPr lang="en-US" altLang="zh-CN" sz="400" dirty="0"/>
              <a:t>)</a:t>
            </a:r>
            <a:r>
              <a:rPr lang="zh-CN" altLang="en-US" sz="400" dirty="0"/>
              <a:t>，</a:t>
            </a:r>
            <a:endParaRPr lang="zh-CN" altLang="en-US" sz="400" b="1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DF2930F-DCBC-C9B2-623A-F0D1E326CC86}"/>
              </a:ext>
            </a:extLst>
          </p:cNvPr>
          <p:cNvCxnSpPr>
            <a:cxnSpLocks/>
          </p:cNvCxnSpPr>
          <p:nvPr/>
        </p:nvCxnSpPr>
        <p:spPr>
          <a:xfrm flipH="1">
            <a:off x="602456" y="2022372"/>
            <a:ext cx="40482" cy="2183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E01DC42F-809F-83D1-633C-7676084BF59C}"/>
              </a:ext>
            </a:extLst>
          </p:cNvPr>
          <p:cNvCxnSpPr>
            <a:endCxn id="15" idx="1"/>
          </p:cNvCxnSpPr>
          <p:nvPr/>
        </p:nvCxnSpPr>
        <p:spPr>
          <a:xfrm flipV="1">
            <a:off x="7429500" y="710282"/>
            <a:ext cx="881808" cy="250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D7491518-1C1D-EE18-01C8-EA0A7A3DCEAC}"/>
              </a:ext>
            </a:extLst>
          </p:cNvPr>
          <p:cNvSpPr txBox="1"/>
          <p:nvPr/>
        </p:nvSpPr>
        <p:spPr>
          <a:xfrm>
            <a:off x="329288" y="2180573"/>
            <a:ext cx="15627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b="1" dirty="0"/>
              <a:t>每个</a:t>
            </a:r>
            <a:r>
              <a:rPr lang="en-US" altLang="zh-CN" sz="400" b="1" dirty="0"/>
              <a:t>port</a:t>
            </a:r>
            <a:r>
              <a:rPr lang="zh-CN" altLang="en-US" sz="400" b="1" dirty="0"/>
              <a:t>都有一个对应的</a:t>
            </a:r>
            <a:r>
              <a:rPr lang="en-US" altLang="zh-CN" sz="400" b="1" dirty="0"/>
              <a:t>uart_state</a:t>
            </a:r>
            <a:r>
              <a:rPr lang="en-US" altLang="zh-CN" sz="400" dirty="0"/>
              <a:t>(</a:t>
            </a:r>
            <a:r>
              <a:rPr lang="zh-CN" altLang="en-US" sz="400" dirty="0"/>
              <a:t>内有指针指向它的</a:t>
            </a:r>
            <a:r>
              <a:rPr lang="en-US" altLang="zh-CN" sz="400" dirty="0"/>
              <a:t>uart_port)</a:t>
            </a:r>
            <a:r>
              <a:rPr lang="zh-CN" altLang="en-US" sz="400" dirty="0"/>
              <a:t>和</a:t>
            </a:r>
            <a:r>
              <a:rPr lang="en-US" altLang="zh-CN" sz="400" b="1" dirty="0"/>
              <a:t>uart_port</a:t>
            </a:r>
            <a:r>
              <a:rPr lang="en-US" altLang="zh-CN" sz="400" dirty="0"/>
              <a:t>(</a:t>
            </a:r>
            <a:r>
              <a:rPr lang="zh-CN" altLang="en-US" sz="400" dirty="0"/>
              <a:t>硬件操作函数指针和硬件信息</a:t>
            </a:r>
            <a:r>
              <a:rPr lang="en-US" altLang="zh-CN" sz="400" dirty="0"/>
              <a:t>)</a:t>
            </a:r>
            <a:endParaRPr lang="zh-CN" altLang="en-US" sz="400" dirty="0"/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B3A142FD-D62C-03CF-5A7E-33805CFC732F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14031" y="764218"/>
            <a:ext cx="1232261" cy="695923"/>
          </a:xfrm>
          <a:prstGeom prst="rect">
            <a:avLst/>
          </a:prstGeom>
        </p:spPr>
      </p:pic>
      <p:cxnSp>
        <p:nvCxnSpPr>
          <p:cNvPr id="65" name="连接符: 曲线 64">
            <a:extLst>
              <a:ext uri="{FF2B5EF4-FFF2-40B4-BE49-F238E27FC236}">
                <a16:creationId xmlns:a16="http://schemas.microsoft.com/office/drawing/2014/main" id="{9442710E-A66C-13D6-FDF4-D09EF5D197C2}"/>
              </a:ext>
            </a:extLst>
          </p:cNvPr>
          <p:cNvCxnSpPr>
            <a:stCxn id="7" idx="3"/>
          </p:cNvCxnSpPr>
          <p:nvPr/>
        </p:nvCxnSpPr>
        <p:spPr>
          <a:xfrm flipV="1">
            <a:off x="1449930" y="910259"/>
            <a:ext cx="5219470" cy="873582"/>
          </a:xfrm>
          <a:prstGeom prst="curvedConnector3">
            <a:avLst>
              <a:gd name="adj1" fmla="val 48631"/>
            </a:avLst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476785BB-ACAE-CB5F-A754-7C0BCAB1FF00}"/>
              </a:ext>
            </a:extLst>
          </p:cNvPr>
          <p:cNvSpPr txBox="1"/>
          <p:nvPr/>
        </p:nvSpPr>
        <p:spPr>
          <a:xfrm>
            <a:off x="4921116" y="3120071"/>
            <a:ext cx="1292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b="1" dirty="0">
                <a:solidFill>
                  <a:srgbClr val="EE0000"/>
                </a:solidFill>
              </a:rPr>
              <a:t>将这个</a:t>
            </a:r>
            <a:r>
              <a:rPr lang="en-US" altLang="zh-CN" sz="400" b="1" dirty="0">
                <a:solidFill>
                  <a:srgbClr val="EE0000"/>
                </a:solidFill>
              </a:rPr>
              <a:t>port</a:t>
            </a:r>
            <a:r>
              <a:rPr lang="zh-CN" altLang="en-US" sz="400" b="1" dirty="0">
                <a:solidFill>
                  <a:srgbClr val="EE0000"/>
                </a:solidFill>
              </a:rPr>
              <a:t>的</a:t>
            </a:r>
            <a:r>
              <a:rPr lang="en-US" altLang="zh-CN" sz="400" b="1" dirty="0">
                <a:solidFill>
                  <a:srgbClr val="EE0000"/>
                </a:solidFill>
              </a:rPr>
              <a:t>tty_port(uart_port</a:t>
            </a:r>
            <a:r>
              <a:rPr lang="zh-CN" altLang="en-US" sz="400" b="1" dirty="0">
                <a:solidFill>
                  <a:srgbClr val="EE0000"/>
                </a:solidFill>
              </a:rPr>
              <a:t>中的成员变量</a:t>
            </a:r>
            <a:r>
              <a:rPr lang="en-US" altLang="zh-CN" sz="400" b="1" dirty="0">
                <a:solidFill>
                  <a:srgbClr val="EE0000"/>
                </a:solidFill>
              </a:rPr>
              <a:t>)</a:t>
            </a:r>
            <a:r>
              <a:rPr lang="zh-CN" altLang="en-US" sz="400" b="1" dirty="0">
                <a:solidFill>
                  <a:srgbClr val="EE0000"/>
                </a:solidFill>
              </a:rPr>
              <a:t>记录在</a:t>
            </a:r>
            <a:r>
              <a:rPr lang="en-US" altLang="zh-CN" sz="400" b="1" dirty="0">
                <a:solidFill>
                  <a:srgbClr val="EE0000"/>
                </a:solidFill>
              </a:rPr>
              <a:t>tty_driver</a:t>
            </a:r>
            <a:r>
              <a:rPr lang="zh-CN" altLang="en-US" sz="400" b="1" dirty="0">
                <a:solidFill>
                  <a:srgbClr val="EE0000"/>
                </a:solidFill>
              </a:rPr>
              <a:t>的</a:t>
            </a:r>
            <a:r>
              <a:rPr lang="en-US" altLang="zh-CN" sz="400" b="1" dirty="0">
                <a:solidFill>
                  <a:srgbClr val="EE0000"/>
                </a:solidFill>
              </a:rPr>
              <a:t>ports</a:t>
            </a:r>
            <a:r>
              <a:rPr lang="zh-CN" altLang="en-US" sz="400" b="1" dirty="0">
                <a:solidFill>
                  <a:srgbClr val="EE0000"/>
                </a:solidFill>
              </a:rPr>
              <a:t>指针数组中去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1579027-A263-FB66-F3F3-B19E63C01E90}"/>
              </a:ext>
            </a:extLst>
          </p:cNvPr>
          <p:cNvSpPr txBox="1"/>
          <p:nvPr/>
        </p:nvSpPr>
        <p:spPr>
          <a:xfrm>
            <a:off x="7259410" y="4474494"/>
            <a:ext cx="1144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/>
              <a:t>设置这个</a:t>
            </a:r>
            <a:r>
              <a:rPr lang="en-US" altLang="zh-CN" sz="400" dirty="0"/>
              <a:t>device</a:t>
            </a:r>
            <a:r>
              <a:rPr lang="zh-CN" altLang="en-US" sz="400" dirty="0"/>
              <a:t>的</a:t>
            </a:r>
            <a:r>
              <a:rPr lang="en-US" altLang="zh-CN" sz="400" dirty="0"/>
              <a:t>class</a:t>
            </a:r>
            <a:r>
              <a:rPr lang="zh-CN" altLang="en-US" sz="400" dirty="0"/>
              <a:t>和创建这个</a:t>
            </a:r>
            <a:r>
              <a:rPr lang="en-US" altLang="zh-CN" sz="400" dirty="0"/>
              <a:t>device</a:t>
            </a:r>
          </a:p>
          <a:p>
            <a:r>
              <a:rPr lang="en-US" altLang="zh-CN" sz="400" dirty="0"/>
              <a:t>tty_driver.dev_name</a:t>
            </a:r>
            <a:r>
              <a:rPr lang="zh-CN" altLang="en-US" sz="400" dirty="0"/>
              <a:t>来构造</a:t>
            </a:r>
            <a:r>
              <a:rPr lang="en-US" altLang="zh-CN" sz="400" dirty="0"/>
              <a:t>/dev/xxx</a:t>
            </a:r>
            <a:endParaRPr lang="zh-CN" altLang="en-US" sz="400" dirty="0"/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FD1886E1-7DC6-27E5-C9C9-5770DCBB62D6}"/>
              </a:ext>
            </a:extLst>
          </p:cNvPr>
          <p:cNvCxnSpPr>
            <a:stCxn id="33" idx="3"/>
          </p:cNvCxnSpPr>
          <p:nvPr/>
        </p:nvCxnSpPr>
        <p:spPr>
          <a:xfrm>
            <a:off x="7405513" y="4021898"/>
            <a:ext cx="11326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BAC1940C-ADDF-F282-C397-6F30357CCCE8}"/>
              </a:ext>
            </a:extLst>
          </p:cNvPr>
          <p:cNvSpPr txBox="1"/>
          <p:nvPr/>
        </p:nvSpPr>
        <p:spPr>
          <a:xfrm>
            <a:off x="8461829" y="3254919"/>
            <a:ext cx="172735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b="1" dirty="0">
                <a:solidFill>
                  <a:srgbClr val="EE0000"/>
                </a:solidFill>
              </a:rPr>
              <a:t>设置、注册</a:t>
            </a:r>
            <a:r>
              <a:rPr lang="en-US" altLang="zh-CN" sz="400" b="1" dirty="0">
                <a:solidFill>
                  <a:srgbClr val="EE0000"/>
                </a:solidFill>
              </a:rPr>
              <a:t>port</a:t>
            </a:r>
            <a:r>
              <a:rPr lang="zh-CN" altLang="en-US" sz="400" b="1" dirty="0">
                <a:solidFill>
                  <a:srgbClr val="EE0000"/>
                </a:solidFill>
              </a:rPr>
              <a:t>对应的</a:t>
            </a:r>
            <a:r>
              <a:rPr lang="en-US" altLang="zh-CN" sz="400" b="1" dirty="0">
                <a:solidFill>
                  <a:srgbClr val="EE0000"/>
                </a:solidFill>
              </a:rPr>
              <a:t>cdev</a:t>
            </a:r>
            <a:r>
              <a:rPr lang="zh-CN" altLang="en-US" sz="400" b="1" dirty="0">
                <a:solidFill>
                  <a:srgbClr val="EE0000"/>
                </a:solidFill>
              </a:rPr>
              <a:t>结构体以及对应的</a:t>
            </a:r>
            <a:r>
              <a:rPr lang="en-US" altLang="zh-CN" sz="400" b="1" dirty="0">
                <a:solidFill>
                  <a:srgbClr val="EE0000"/>
                </a:solidFill>
              </a:rPr>
              <a:t>fops</a:t>
            </a:r>
            <a:r>
              <a:rPr lang="zh-CN" altLang="en-US" sz="400" b="1" dirty="0">
                <a:solidFill>
                  <a:srgbClr val="EE0000"/>
                </a:solidFill>
              </a:rPr>
              <a:t>函数指针结构体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6C890C2C-8504-B36A-F33C-A59831B8A6F4}"/>
              </a:ext>
            </a:extLst>
          </p:cNvPr>
          <p:cNvSpPr txBox="1"/>
          <p:nvPr/>
        </p:nvSpPr>
        <p:spPr>
          <a:xfrm>
            <a:off x="7502013" y="3414673"/>
            <a:ext cx="940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/>
              <a:t>使用</a:t>
            </a:r>
            <a:r>
              <a:rPr lang="en-US" altLang="zh-CN" sz="400" dirty="0"/>
              <a:t>tty_line_name</a:t>
            </a:r>
            <a:r>
              <a:rPr lang="zh-CN" altLang="en-US" sz="400" dirty="0"/>
              <a:t>函数来确定设备名，赋值给</a:t>
            </a:r>
            <a:r>
              <a:rPr lang="en-US" altLang="zh-CN" sz="400" dirty="0"/>
              <a:t>name</a:t>
            </a:r>
            <a:r>
              <a:rPr lang="zh-CN" altLang="en-US" sz="400" dirty="0"/>
              <a:t>；</a:t>
            </a:r>
            <a:r>
              <a:rPr lang="en-US" altLang="zh-CN" sz="400" dirty="0"/>
              <a:t>index</a:t>
            </a:r>
            <a:r>
              <a:rPr lang="zh-CN" altLang="en-US" sz="400" dirty="0"/>
              <a:t>来自设备树</a:t>
            </a:r>
          </a:p>
        </p:txBody>
      </p:sp>
      <p:pic>
        <p:nvPicPr>
          <p:cNvPr id="88" name="图片 87">
            <a:extLst>
              <a:ext uri="{FF2B5EF4-FFF2-40B4-BE49-F238E27FC236}">
                <a16:creationId xmlns:a16="http://schemas.microsoft.com/office/drawing/2014/main" id="{9737DCA0-DA45-5DA7-C524-17C065C20D27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440531" y="3573920"/>
            <a:ext cx="1062663" cy="257016"/>
          </a:xfrm>
          <a:prstGeom prst="rect">
            <a:avLst/>
          </a:prstGeom>
        </p:spPr>
      </p:pic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E8DA471D-A3E0-F6DC-75C5-2582F58E5F5B}"/>
              </a:ext>
            </a:extLst>
          </p:cNvPr>
          <p:cNvCxnSpPr>
            <a:cxnSpLocks/>
            <a:stCxn id="31" idx="3"/>
            <a:endCxn id="88" idx="1"/>
          </p:cNvCxnSpPr>
          <p:nvPr/>
        </p:nvCxnSpPr>
        <p:spPr>
          <a:xfrm flipV="1">
            <a:off x="7229299" y="3702428"/>
            <a:ext cx="211232" cy="1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1E5E3B20-5436-45AC-A3D4-3792ADE183F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212807" y="1201398"/>
            <a:ext cx="825946" cy="594186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F59627E9-3E5A-AD86-A2C7-F4C7B4C50CAB}"/>
              </a:ext>
            </a:extLst>
          </p:cNvPr>
          <p:cNvSpPr/>
          <p:nvPr/>
        </p:nvSpPr>
        <p:spPr>
          <a:xfrm>
            <a:off x="4127500" y="2391035"/>
            <a:ext cx="1791229" cy="723289"/>
          </a:xfrm>
          <a:prstGeom prst="rect">
            <a:avLst/>
          </a:prstGeom>
          <a:noFill/>
          <a:ln w="952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B336120-C66C-300D-58AE-CCFAEAD1ABD9}"/>
              </a:ext>
            </a:extLst>
          </p:cNvPr>
          <p:cNvSpPr txBox="1"/>
          <p:nvPr/>
        </p:nvSpPr>
        <p:spPr>
          <a:xfrm>
            <a:off x="349045" y="115384"/>
            <a:ext cx="1871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plaform_device</a:t>
            </a:r>
            <a:r>
              <a:rPr lang="zh-CN" altLang="en-US" sz="400" dirty="0"/>
              <a:t>由内核解析设备树自动创建，注册</a:t>
            </a:r>
            <a:r>
              <a:rPr lang="en-US" altLang="zh-CN" sz="400" dirty="0"/>
              <a:t>platform_driver</a:t>
            </a:r>
            <a:r>
              <a:rPr lang="zh-CN" altLang="en-US" sz="400" dirty="0"/>
              <a:t>驱动后会对比</a:t>
            </a:r>
            <a:r>
              <a:rPr lang="en-US" altLang="zh-CN" sz="400" dirty="0"/>
              <a:t>compatible</a:t>
            </a:r>
            <a:r>
              <a:rPr lang="zh-CN" altLang="en-US" sz="400" dirty="0"/>
              <a:t>进行匹配，一致则调用驱动的</a:t>
            </a:r>
            <a:r>
              <a:rPr lang="en-US" altLang="zh-CN" sz="400" dirty="0"/>
              <a:t>probe</a:t>
            </a:r>
            <a:r>
              <a:rPr lang="zh-CN" altLang="en-US" sz="400" dirty="0"/>
              <a:t>函数并把</a:t>
            </a:r>
            <a:r>
              <a:rPr lang="en-US" altLang="zh-CN" sz="400" dirty="0"/>
              <a:t>plaform_device</a:t>
            </a:r>
            <a:r>
              <a:rPr lang="zh-CN" altLang="en-US" sz="400" dirty="0"/>
              <a:t>作为参数进行传入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39B139B-52A6-5282-67D2-3AAF2A502113}"/>
              </a:ext>
            </a:extLst>
          </p:cNvPr>
          <p:cNvSpPr txBox="1"/>
          <p:nvPr/>
        </p:nvSpPr>
        <p:spPr>
          <a:xfrm>
            <a:off x="3829423" y="482537"/>
            <a:ext cx="61322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>
                <a:solidFill>
                  <a:srgbClr val="EE0000"/>
                </a:solidFill>
              </a:rPr>
              <a:t>与硬件打交道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0FEB31B1-AB3E-7056-71BD-2EBF45CA8877}"/>
              </a:ext>
            </a:extLst>
          </p:cNvPr>
          <p:cNvSpPr txBox="1"/>
          <p:nvPr/>
        </p:nvSpPr>
        <p:spPr>
          <a:xfrm>
            <a:off x="5840186" y="298395"/>
            <a:ext cx="6503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>
                <a:solidFill>
                  <a:srgbClr val="EE0000"/>
                </a:solidFill>
              </a:rPr>
              <a:t>和</a:t>
            </a:r>
            <a:r>
              <a:rPr lang="en-US" altLang="zh-CN" sz="400" dirty="0">
                <a:solidFill>
                  <a:srgbClr val="EE0000"/>
                </a:solidFill>
              </a:rPr>
              <a:t>TTY</a:t>
            </a:r>
            <a:r>
              <a:rPr lang="zh-CN" altLang="en-US" sz="400" dirty="0">
                <a:solidFill>
                  <a:srgbClr val="EE0000"/>
                </a:solidFill>
              </a:rPr>
              <a:t>子系统打交道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8FD1D33-DA17-0F93-8B39-40A9E0320D06}"/>
              </a:ext>
            </a:extLst>
          </p:cNvPr>
          <p:cNvSpPr txBox="1"/>
          <p:nvPr/>
        </p:nvSpPr>
        <p:spPr>
          <a:xfrm>
            <a:off x="4683931" y="2119513"/>
            <a:ext cx="13443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/>
              <a:t>其实是都是在用</a:t>
            </a:r>
            <a:r>
              <a:rPr lang="en-US" altLang="zh-CN" sz="400" dirty="0"/>
              <a:t>tty_driver</a:t>
            </a:r>
            <a:r>
              <a:rPr lang="zh-CN" altLang="en-US" sz="400" dirty="0"/>
              <a:t>里的成员变量，只是为了规范形参为</a:t>
            </a:r>
            <a:r>
              <a:rPr lang="en-US" altLang="zh-CN" sz="400" dirty="0"/>
              <a:t>uart_driver</a:t>
            </a:r>
            <a:endParaRPr lang="zh-CN" altLang="en-US" sz="4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003215B-9916-52E1-D1DA-7A220FC5F878}"/>
              </a:ext>
            </a:extLst>
          </p:cNvPr>
          <p:cNvSpPr/>
          <p:nvPr/>
        </p:nvSpPr>
        <p:spPr>
          <a:xfrm>
            <a:off x="6272894" y="3316395"/>
            <a:ext cx="519792" cy="47696"/>
          </a:xfrm>
          <a:prstGeom prst="rect">
            <a:avLst/>
          </a:prstGeom>
          <a:noFill/>
          <a:ln w="63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D70DDE7-6940-B670-A9F5-92BA46535E65}"/>
              </a:ext>
            </a:extLst>
          </p:cNvPr>
          <p:cNvSpPr/>
          <p:nvPr/>
        </p:nvSpPr>
        <p:spPr>
          <a:xfrm>
            <a:off x="6280915" y="4530563"/>
            <a:ext cx="978495" cy="370617"/>
          </a:xfrm>
          <a:prstGeom prst="rect">
            <a:avLst/>
          </a:prstGeom>
          <a:noFill/>
          <a:ln w="63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33C464-D213-F417-A762-91AD0D293B21}"/>
              </a:ext>
            </a:extLst>
          </p:cNvPr>
          <p:cNvSpPr txBox="1"/>
          <p:nvPr/>
        </p:nvSpPr>
        <p:spPr>
          <a:xfrm>
            <a:off x="2455107" y="63980"/>
            <a:ext cx="135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/>
              <a:t>当</a:t>
            </a:r>
            <a:r>
              <a:rPr lang="en-US" altLang="zh-CN" sz="400" dirty="0"/>
              <a:t>platform_driver</a:t>
            </a:r>
            <a:r>
              <a:rPr lang="zh-CN" altLang="en-US" sz="400" dirty="0"/>
              <a:t>注册进内核时或者一个设备注册进内核时总线就会尝试进行</a:t>
            </a:r>
            <a:r>
              <a:rPr lang="en-US" altLang="zh-CN" sz="400" dirty="0"/>
              <a:t>match</a:t>
            </a:r>
            <a:r>
              <a:rPr lang="zh-CN" altLang="en-US" sz="400" dirty="0"/>
              <a:t>，</a:t>
            </a:r>
            <a:r>
              <a:rPr lang="en-US" altLang="zh-CN" sz="400" dirty="0"/>
              <a:t>match</a:t>
            </a:r>
            <a:r>
              <a:rPr lang="zh-CN" altLang="en-US" sz="400" dirty="0"/>
              <a:t>成功则调用</a:t>
            </a:r>
            <a:r>
              <a:rPr lang="en-US" altLang="zh-CN" sz="400" dirty="0"/>
              <a:t>probe</a:t>
            </a:r>
            <a:r>
              <a:rPr lang="zh-CN" altLang="en-US" sz="400" dirty="0"/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585730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829</Words>
  <Application>Microsoft Office PowerPoint</Application>
  <PresentationFormat>宽屏</PresentationFormat>
  <Paragraphs>24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锦艺 陈</dc:creator>
  <cp:lastModifiedBy>锦艺 陈</cp:lastModifiedBy>
  <cp:revision>114</cp:revision>
  <dcterms:created xsi:type="dcterms:W3CDTF">2026-01-16T08:10:17Z</dcterms:created>
  <dcterms:modified xsi:type="dcterms:W3CDTF">2026-01-27T14:21:56Z</dcterms:modified>
</cp:coreProperties>
</file>