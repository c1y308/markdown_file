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C0FD5-7D09-4A96-85BF-650A35F4D24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E57CF-7AA6-4BE6-9990-813F62E7D0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C0FD5-7D09-4A96-85BF-650A35F4D24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E57CF-7AA6-4BE6-9990-813F62E7D0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C0FD5-7D09-4A96-85BF-650A35F4D24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E57CF-7AA6-4BE6-9990-813F62E7D0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C0FD5-7D09-4A96-85BF-650A35F4D24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E57CF-7AA6-4BE6-9990-813F62E7D0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C0FD5-7D09-4A96-85BF-650A35F4D24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E57CF-7AA6-4BE6-9990-813F62E7D0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C0FD5-7D09-4A96-85BF-650A35F4D24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E57CF-7AA6-4BE6-9990-813F62E7D0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C0FD5-7D09-4A96-85BF-650A35F4D24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E57CF-7AA6-4BE6-9990-813F62E7D0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C0FD5-7D09-4A96-85BF-650A35F4D24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E57CF-7AA6-4BE6-9990-813F62E7D0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C0FD5-7D09-4A96-85BF-650A35F4D24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E57CF-7AA6-4BE6-9990-813F62E7D0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C0FD5-7D09-4A96-85BF-650A35F4D24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E57CF-7AA6-4BE6-9990-813F62E7D0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C0FD5-7D09-4A96-85BF-650A35F4D24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E57CF-7AA6-4BE6-9990-813F62E7D0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2C0FD5-7D09-4A96-85BF-650A35F4D24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FE57CF-7AA6-4BE6-9990-813F62E7D0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315595" y="-408305"/>
          <a:ext cx="11684000" cy="7244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9167"/>
                <a:gridCol w="3306033"/>
                <a:gridCol w="5639062"/>
              </a:tblGrid>
              <a:tr h="33274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ARM</a:t>
                      </a:r>
                      <a:r>
                        <a:rPr lang="zh-CN" altLang="en-US" dirty="0"/>
                        <a:t>架构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RISCV</a:t>
                      </a:r>
                      <a:r>
                        <a:rPr lang="zh-CN" altLang="en-US" dirty="0"/>
                        <a:t>架构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切换任务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pxCurrentTCB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current/next_task_cx_ptr(</a:t>
                      </a:r>
                      <a:r>
                        <a:rPr lang="zh-CN" altLang="en-US" dirty="0"/>
                        <a:t>两个，且都是形参</a:t>
                      </a:r>
                      <a:r>
                        <a:rPr lang="en-US" altLang="zh-CN" dirty="0"/>
                        <a:t>)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altLang="zh-CN" dirty="0">
                        <a:solidFill>
                          <a:srgbClr val="EE0000"/>
                        </a:solidFill>
                      </a:endParaRPr>
                    </a:p>
                    <a:p>
                      <a:pPr algn="ctr"/>
                      <a:endParaRPr lang="en-US" altLang="zh-CN" dirty="0">
                        <a:solidFill>
                          <a:srgbClr val="EE0000"/>
                        </a:solidFill>
                      </a:endParaRPr>
                    </a:p>
                    <a:p>
                      <a:pPr algn="ctr"/>
                      <a:r>
                        <a:rPr lang="zh-CN" altLang="en-US" dirty="0">
                          <a:solidFill>
                            <a:srgbClr val="EE0000"/>
                          </a:solidFill>
                        </a:rPr>
                        <a:t>在哪保存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CN" dirty="0"/>
                    </a:p>
                    <a:p>
                      <a:pPr algn="ctr"/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当前</a:t>
                      </a:r>
                      <a:r>
                        <a:rPr lang="en-US" altLang="zh-CN" dirty="0"/>
                        <a:t>PSP(</a:t>
                      </a:r>
                      <a:r>
                        <a:rPr lang="zh-CN" altLang="en-US" dirty="0"/>
                        <a:t>只有一个栈</a:t>
                      </a:r>
                      <a:r>
                        <a:rPr lang="en-US" altLang="zh-CN" dirty="0"/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Sscarch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</a:rPr>
                        <a:t>寄存器</a:t>
                      </a:r>
                      <a:r>
                        <a:rPr lang="zh-CN" altLang="en-US" sz="1800" dirty="0">
                          <a:solidFill>
                            <a:srgbClr val="EE0000"/>
                          </a:solidFill>
                        </a:rPr>
                        <a:t>（恢复完之后用户栈的使用不会更改内核栈的使用状态）</a:t>
                      </a:r>
                      <a:endParaRPr lang="en-US" altLang="zh-C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dirty="0">
                        <a:solidFill>
                          <a:srgbClr val="EE000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>
                          <a:solidFill>
                            <a:srgbClr val="EE0000"/>
                          </a:solidFill>
                        </a:rPr>
                        <a:t>从哪恢复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CN" dirty="0"/>
                    </a:p>
                    <a:p>
                      <a:pPr algn="ctr"/>
                      <a:r>
                        <a:rPr lang="en-US" altLang="zh-CN" dirty="0"/>
                        <a:t>TCB-&gt;pxTopOfStack</a:t>
                      </a:r>
                      <a:r>
                        <a:rPr lang="zh-CN" altLang="en-US" dirty="0"/>
                        <a:t>（需要算法来更改</a:t>
                      </a:r>
                      <a:r>
                        <a:rPr lang="en-US" altLang="zh-CN" dirty="0"/>
                        <a:t>TCB</a:t>
                      </a:r>
                      <a:r>
                        <a:rPr lang="zh-CN" altLang="en-US" dirty="0"/>
                        <a:t>，会变化）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形参传入</a:t>
                      </a:r>
                      <a:r>
                        <a:rPr lang="en-US" altLang="zh-CN" dirty="0"/>
                        <a:t>,(</a:t>
                      </a:r>
                      <a:r>
                        <a:rPr lang="zh-CN" altLang="en-US" dirty="0"/>
                        <a:t>传入的不同来调度任务</a:t>
                      </a:r>
                      <a:r>
                        <a:rPr lang="en-US" altLang="zh-CN" dirty="0"/>
                        <a:t>,</a:t>
                      </a:r>
                      <a:r>
                        <a:rPr lang="zh-CN" altLang="en-US" dirty="0"/>
                        <a:t>且固定</a:t>
                      </a:r>
                      <a:r>
                        <a:rPr lang="en-US" altLang="zh-CN" dirty="0"/>
                        <a:t>)</a:t>
                      </a:r>
                      <a:endParaRPr lang="en-US" altLang="zh-CN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此时</a:t>
                      </a:r>
                      <a:r>
                        <a:rPr lang="en-US" altLang="zh-CN" dirty="0"/>
                        <a:t>Sscarch</a:t>
                      </a:r>
                      <a:r>
                        <a:rPr lang="zh-CN" altLang="en-US" dirty="0"/>
                        <a:t>寄存器只作为恢复用户栈</a:t>
                      </a:r>
                      <a:r>
                        <a:rPr lang="en-US" altLang="zh-CN" dirty="0"/>
                        <a:t>SP</a:t>
                      </a:r>
                      <a:r>
                        <a:rPr lang="zh-CN" altLang="en-US" dirty="0"/>
                        <a:t>的中间量，恢复完成后将当前内核栈的</a:t>
                      </a:r>
                      <a:r>
                        <a:rPr lang="en-US" altLang="zh-CN" dirty="0"/>
                        <a:t>SP</a:t>
                      </a:r>
                      <a:r>
                        <a:rPr lang="zh-CN" altLang="en-US" dirty="0"/>
                        <a:t>保存进</a:t>
                      </a:r>
                      <a:r>
                        <a:rPr lang="en-US" altLang="zh-CN" dirty="0"/>
                        <a:t>Sscarch</a:t>
                      </a:r>
                      <a:r>
                        <a:rPr lang="zh-CN" altLang="en-US" dirty="0"/>
                        <a:t>寄存器</a:t>
                      </a:r>
                      <a:endParaRPr lang="en-US" altLang="zh-C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栈指针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MSP/PSP</a:t>
                      </a:r>
                      <a:r>
                        <a:rPr lang="zh-CN" altLang="en-US" dirty="0"/>
                        <a:t>寄存器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SP</a:t>
                      </a:r>
                      <a:r>
                        <a:rPr lang="zh-CN" altLang="en-US" dirty="0"/>
                        <a:t>寄存器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任务的指令地址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R15(PC)</a:t>
                      </a:r>
                      <a:r>
                        <a:rPr lang="zh-CN" altLang="en-US" dirty="0"/>
                        <a:t>寄存器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SEPC</a:t>
                      </a:r>
                      <a:r>
                        <a:rPr lang="zh-CN" altLang="en-US" dirty="0"/>
                        <a:t>寄存器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函数形参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A0-A4</a:t>
                      </a:r>
                      <a:r>
                        <a:rPr lang="zh-CN" altLang="en-US" dirty="0"/>
                        <a:t>寄存器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A0-A4</a:t>
                      </a:r>
                      <a:r>
                        <a:rPr lang="zh-CN" altLang="en-US" dirty="0"/>
                        <a:t>寄存器</a:t>
                      </a:r>
                      <a:r>
                        <a:rPr lang="en-US" altLang="zh-CN" dirty="0"/>
                        <a:t>(</a:t>
                      </a:r>
                      <a:r>
                        <a:rPr lang="zh-CN" altLang="en-US" dirty="0"/>
                        <a:t>约定俗称</a:t>
                      </a:r>
                      <a:r>
                        <a:rPr lang="en-US" altLang="zh-CN" dirty="0"/>
                        <a:t>)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切换函数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调用</a:t>
                      </a:r>
                      <a:r>
                        <a:rPr lang="en-US" altLang="zh-CN" dirty="0"/>
                        <a:t>SwitchTaskContext()</a:t>
                      </a:r>
                      <a:r>
                        <a:rPr lang="zh-CN" altLang="en-US" dirty="0"/>
                        <a:t>函数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设置</a:t>
                      </a:r>
                      <a:r>
                        <a:rPr lang="en-US" altLang="zh-CN" dirty="0"/>
                        <a:t>STVEC</a:t>
                      </a:r>
                      <a:r>
                        <a:rPr lang="zh-CN" altLang="en-US" dirty="0"/>
                        <a:t>寄存器</a:t>
                      </a:r>
                      <a:r>
                        <a:rPr lang="en-US" altLang="zh-CN" dirty="0"/>
                        <a:t>,</a:t>
                      </a:r>
                      <a:r>
                        <a:rPr lang="zh-CN" altLang="en-US" dirty="0"/>
                        <a:t>执行</a:t>
                      </a:r>
                      <a:r>
                        <a:rPr lang="en-US" altLang="zh-CN" dirty="0"/>
                        <a:t>__alltrap</a:t>
                      </a:r>
                      <a:r>
                        <a:rPr lang="zh-CN" altLang="en-US" dirty="0"/>
                        <a:t>切换进内核态后</a:t>
                      </a:r>
                      <a:r>
                        <a:rPr lang="en-US" altLang="zh-CN" dirty="0"/>
                        <a:t>call trap_Handler()</a:t>
                      </a:r>
                      <a:r>
                        <a:rPr lang="zh-CN" altLang="en-US" dirty="0"/>
                        <a:t>，依据调用号执行切换（</a:t>
                      </a:r>
                      <a:r>
                        <a:rPr lang="en-US" altLang="zh-CN" dirty="0"/>
                        <a:t>find+__switch</a:t>
                      </a:r>
                      <a:r>
                        <a:rPr lang="zh-CN" altLang="en-US" dirty="0"/>
                        <a:t>）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如何切换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找到下一个任务的</a:t>
                      </a:r>
                      <a:r>
                        <a:rPr lang="en-US" altLang="zh-CN" dirty="0"/>
                        <a:t>TCB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找到下一个任务的</a:t>
                      </a:r>
                      <a:r>
                        <a:rPr lang="en-US" altLang="zh-CN" dirty="0"/>
                        <a:t>TCB</a:t>
                      </a:r>
                      <a:r>
                        <a:rPr lang="zh-CN" altLang="en-US" dirty="0"/>
                        <a:t>，并依据</a:t>
                      </a:r>
                      <a:r>
                        <a:rPr lang="en-US" altLang="zh-CN" dirty="0"/>
                        <a:t>TCB-&gt;SP</a:t>
                      </a:r>
                      <a:r>
                        <a:rPr lang="zh-CN" altLang="en-US" dirty="0"/>
                        <a:t>恢复</a:t>
                      </a:r>
                      <a:r>
                        <a:rPr lang="en-US" altLang="zh-CN" dirty="0"/>
                        <a:t>Task2</a:t>
                      </a:r>
                      <a:r>
                        <a:rPr lang="zh-CN" altLang="en-US" dirty="0"/>
                        <a:t>的</a:t>
                      </a:r>
                      <a:r>
                        <a:rPr lang="en-US" altLang="zh-CN" dirty="0"/>
                        <a:t>TrapContext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altLang="zh-CN" dirty="0"/>
                    </a:p>
                    <a:p>
                      <a:pPr algn="ctr"/>
                      <a:endParaRPr lang="en-US" altLang="zh-CN" dirty="0"/>
                    </a:p>
                    <a:p>
                      <a:pPr algn="ctr"/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异常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函数返回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CN" dirty="0"/>
                    </a:p>
                    <a:p>
                      <a:pPr algn="ctr"/>
                      <a:r>
                        <a:rPr lang="en-US" altLang="zh-CN"/>
                        <a:t>R14</a:t>
                      </a:r>
                      <a:r>
                        <a:rPr lang="en-US" altLang="zh-CN" dirty="0"/>
                        <a:t>(LR)</a:t>
                      </a:r>
                      <a:r>
                        <a:rPr lang="zh-CN" altLang="en-US" dirty="0"/>
                        <a:t>寄存器。在异常中保存</a:t>
                      </a:r>
                      <a:r>
                        <a:rPr lang="en-US" altLang="zh-CN" dirty="0"/>
                        <a:t>R14</a:t>
                      </a:r>
                      <a:r>
                        <a:rPr lang="zh-CN" altLang="en-US" dirty="0"/>
                        <a:t>寄存器是因为调用</a:t>
                      </a:r>
                      <a:r>
                        <a:rPr lang="en-US" altLang="zh-CN" dirty="0"/>
                        <a:t>SwitchTaskContext()</a:t>
                      </a:r>
                      <a:r>
                        <a:rPr lang="zh-CN" altLang="en-US" dirty="0"/>
                        <a:t>会更改</a:t>
                      </a:r>
                      <a:r>
                        <a:rPr lang="en-US" altLang="zh-CN" dirty="0"/>
                        <a:t>R14</a:t>
                      </a:r>
                      <a:r>
                        <a:rPr lang="zh-CN" altLang="en-US" dirty="0"/>
                        <a:t>的值，</a:t>
                      </a:r>
                      <a:r>
                        <a:rPr lang="en-US" altLang="zh-CN" dirty="0"/>
                        <a:t>R14</a:t>
                      </a:r>
                      <a:r>
                        <a:rPr lang="zh-CN" altLang="en-US" dirty="0"/>
                        <a:t>之前存储的是退出</a:t>
                      </a:r>
                      <a:r>
                        <a:rPr lang="en-US" altLang="zh-CN" dirty="0"/>
                        <a:t>PendSV</a:t>
                      </a:r>
                      <a:r>
                        <a:rPr lang="zh-CN" altLang="en-US" dirty="0"/>
                        <a:t>中断后是什么状态，因此需要存储</a:t>
                      </a:r>
                      <a:r>
                        <a:rPr lang="en-US" altLang="zh-CN" dirty="0"/>
                        <a:t>R14</a:t>
                      </a:r>
                      <a:r>
                        <a:rPr lang="zh-CN" altLang="en-US" dirty="0"/>
                        <a:t>寄存器的值。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执行</a:t>
                      </a:r>
                      <a:r>
                        <a:rPr lang="en-US" altLang="zh-CN" dirty="0"/>
                        <a:t>call trap_Handler()</a:t>
                      </a:r>
                      <a:r>
                        <a:rPr lang="zh-CN" altLang="en-US" dirty="0"/>
                        <a:t>之后</a:t>
                      </a:r>
                      <a:r>
                        <a:rPr lang="en-US" altLang="zh-CN" dirty="0">
                          <a:solidFill>
                            <a:srgbClr val="EE0000"/>
                          </a:solidFill>
                        </a:rPr>
                        <a:t>RA</a:t>
                      </a:r>
                      <a:r>
                        <a:rPr lang="zh-CN" altLang="en-US" dirty="0">
                          <a:solidFill>
                            <a:srgbClr val="EE0000"/>
                          </a:solidFill>
                        </a:rPr>
                        <a:t>寄存器</a:t>
                      </a:r>
                      <a:r>
                        <a:rPr lang="zh-CN" altLang="en-US" dirty="0"/>
                        <a:t>会自动编译为</a:t>
                      </a:r>
                      <a:r>
                        <a:rPr lang="en-US" altLang="zh-CN" dirty="0"/>
                        <a:t>PC+8</a:t>
                      </a:r>
                      <a:r>
                        <a:rPr lang="zh-CN" altLang="en-US" dirty="0"/>
                        <a:t>的地址，也就是说函数返回后跳转执行</a:t>
                      </a:r>
                      <a:r>
                        <a:rPr lang="en-US" altLang="zh-CN" dirty="0"/>
                        <a:t>__restore</a:t>
                      </a:r>
                      <a:r>
                        <a:rPr lang="zh-CN" altLang="en-US" dirty="0"/>
                        <a:t>。</a:t>
                      </a:r>
                      <a:endParaRPr lang="en-US" altLang="zh-CN" dirty="0"/>
                    </a:p>
                    <a:p>
                      <a:pPr algn="l"/>
                      <a:r>
                        <a:rPr lang="zh-CN" altLang="en-US" dirty="0"/>
                        <a:t>在</a:t>
                      </a:r>
                      <a:r>
                        <a:rPr lang="en-US" altLang="zh-CN" dirty="0"/>
                        <a:t>trap_Handler()</a:t>
                      </a:r>
                      <a:r>
                        <a:rPr lang="zh-CN" altLang="en-US" dirty="0"/>
                        <a:t>中执行</a:t>
                      </a:r>
                      <a:r>
                        <a:rPr lang="en-US" altLang="zh-CN" dirty="0"/>
                        <a:t>__switch</a:t>
                      </a:r>
                      <a:r>
                        <a:rPr lang="zh-CN" altLang="en-US" dirty="0"/>
                        <a:t>中将</a:t>
                      </a:r>
                      <a:r>
                        <a:rPr lang="en-US" altLang="zh-CN" dirty="0"/>
                        <a:t>RA</a:t>
                      </a:r>
                      <a:r>
                        <a:rPr lang="zh-CN" altLang="en-US" dirty="0"/>
                        <a:t>寄存器切换为新任务的</a:t>
                      </a:r>
                      <a:r>
                        <a:rPr lang="en-US" altLang="zh-CN" dirty="0"/>
                        <a:t>TCB</a:t>
                      </a:r>
                      <a:r>
                        <a:rPr lang="zh-CN" altLang="en-US" dirty="0"/>
                        <a:t>中存储的</a:t>
                      </a:r>
                      <a:r>
                        <a:rPr lang="en-US" altLang="zh-CN" dirty="0"/>
                        <a:t>RA</a:t>
                      </a:r>
                      <a:r>
                        <a:rPr lang="zh-CN" altLang="en-US" dirty="0"/>
                        <a:t>值，使得新任务切换回来后可以继续执行内核态的代码</a:t>
                      </a:r>
                      <a:r>
                        <a:rPr lang="en-US" altLang="zh-CN" dirty="0"/>
                        <a:t>(</a:t>
                      </a:r>
                      <a:r>
                        <a:rPr lang="zh-CN" altLang="en-US" dirty="0"/>
                        <a:t>由于</a:t>
                      </a:r>
                      <a:r>
                        <a:rPr lang="en-US" altLang="zh-CN" dirty="0"/>
                        <a:t>ra</a:t>
                      </a:r>
                      <a:r>
                        <a:rPr lang="zh-CN" altLang="en-US" dirty="0"/>
                        <a:t>为被调用者保留寄存器，因此如果后续有其他函数也不影响</a:t>
                      </a:r>
                      <a:r>
                        <a:rPr lang="en-US" altLang="zh-CN" dirty="0"/>
                        <a:t>)</a:t>
                      </a:r>
                      <a:r>
                        <a:rPr lang="zh-CN" altLang="en-US" dirty="0"/>
                        <a:t>。</a:t>
                      </a:r>
                      <a:endParaRPr lang="en-US" altLang="zh-CN" dirty="0"/>
                    </a:p>
                    <a:p>
                      <a:pPr algn="l"/>
                      <a:r>
                        <a:rPr lang="en-US" altLang="zh-CN" dirty="0">
                          <a:solidFill>
                            <a:srgbClr val="EE0000"/>
                          </a:solidFill>
                        </a:rPr>
                        <a:t>Trap_Handler</a:t>
                      </a:r>
                      <a:r>
                        <a:rPr lang="zh-CN" altLang="en-US" dirty="0">
                          <a:solidFill>
                            <a:srgbClr val="EE0000"/>
                          </a:solidFill>
                        </a:rPr>
                        <a:t>返回之后内核栈会清除函数占用的栈帧，因此</a:t>
                      </a:r>
                      <a:r>
                        <a:rPr lang="en-US" altLang="zh-CN" dirty="0">
                          <a:solidFill>
                            <a:srgbClr val="EE0000"/>
                          </a:solidFill>
                        </a:rPr>
                        <a:t>sp</a:t>
                      </a:r>
                      <a:r>
                        <a:rPr lang="zh-CN" altLang="en-US" dirty="0">
                          <a:solidFill>
                            <a:srgbClr val="EE0000"/>
                          </a:solidFill>
                        </a:rPr>
                        <a:t>指向新任务的</a:t>
                      </a:r>
                      <a:r>
                        <a:rPr lang="en-US" altLang="zh-CN" dirty="0">
                          <a:solidFill>
                            <a:srgbClr val="EE0000"/>
                          </a:solidFill>
                        </a:rPr>
                        <a:t>kst_ptr</a:t>
                      </a:r>
                      <a:r>
                        <a:rPr lang="zh-CN" altLang="en-US" dirty="0">
                          <a:solidFill>
                            <a:srgbClr val="EE0000"/>
                          </a:solidFill>
                        </a:rPr>
                        <a:t>。</a:t>
                      </a:r>
                      <a:endParaRPr lang="en-US" altLang="zh-CN" dirty="0">
                        <a:solidFill>
                          <a:srgbClr val="EE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896" y="3557284"/>
            <a:ext cx="3035038" cy="93503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7799"/>
            <a:ext cx="3788229" cy="2343936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9287" y="3529013"/>
            <a:ext cx="1913586" cy="3328987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1548" y="1297922"/>
            <a:ext cx="1831325" cy="1677984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220717" y="485271"/>
            <a:ext cx="619469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/>
              <a:t>构建</a:t>
            </a:r>
            <a:r>
              <a:rPr lang="en-US" altLang="zh-CN" sz="900" dirty="0"/>
              <a:t>trapcontext</a:t>
            </a:r>
            <a:r>
              <a:rPr lang="zh-CN" altLang="en-US" sz="900" dirty="0"/>
              <a:t>：</a:t>
            </a:r>
            <a:r>
              <a:rPr lang="en-US" altLang="zh-CN" sz="900" dirty="0">
                <a:solidFill>
                  <a:srgbClr val="EE0000"/>
                </a:solidFill>
              </a:rPr>
              <a:t>sp</a:t>
            </a:r>
            <a:r>
              <a:rPr lang="zh-CN" altLang="en-US" sz="900" dirty="0"/>
              <a:t>指向任务栈的栈顶，</a:t>
            </a:r>
            <a:r>
              <a:rPr lang="en-US" altLang="zh-CN" sz="900" dirty="0">
                <a:solidFill>
                  <a:srgbClr val="EE0000"/>
                </a:solidFill>
              </a:rPr>
              <a:t>sepc</a:t>
            </a:r>
            <a:r>
              <a:rPr lang="zh-CN" altLang="en-US" sz="900" dirty="0"/>
              <a:t>指向任务函数，</a:t>
            </a:r>
            <a:r>
              <a:rPr lang="en-US" altLang="zh-CN" sz="900" dirty="0"/>
              <a:t>sstatus</a:t>
            </a:r>
            <a:r>
              <a:rPr lang="zh-CN" altLang="en-US" sz="900" dirty="0"/>
              <a:t>。将任务的</a:t>
            </a:r>
            <a:r>
              <a:rPr lang="en-US" altLang="zh-CN" sz="900" dirty="0"/>
              <a:t>trapcontext</a:t>
            </a:r>
            <a:r>
              <a:rPr lang="zh-CN" altLang="en-US" sz="900" dirty="0"/>
              <a:t>结构体压入内核栈中存储</a:t>
            </a:r>
            <a:r>
              <a:rPr lang="en-US" altLang="zh-CN" sz="900" dirty="0"/>
              <a:t>trapcontext</a:t>
            </a:r>
            <a:r>
              <a:rPr lang="zh-CN" altLang="en-US" sz="900" dirty="0"/>
              <a:t>的位置。</a:t>
            </a:r>
            <a:endParaRPr lang="en-US" altLang="zh-CN" sz="900" dirty="0"/>
          </a:p>
          <a:p>
            <a:r>
              <a:rPr lang="zh-CN" altLang="en-US" sz="900" dirty="0"/>
              <a:t>构建</a:t>
            </a:r>
            <a:r>
              <a:rPr lang="en-US" altLang="zh-CN" sz="900" dirty="0"/>
              <a:t>taskcontext(</a:t>
            </a:r>
            <a:r>
              <a:rPr lang="zh-CN" altLang="en-US" sz="900" dirty="0"/>
              <a:t>内核栈栈指针的指向，以及任务</a:t>
            </a:r>
            <a:r>
              <a:rPr lang="en-US" altLang="zh-CN" sz="900" dirty="0"/>
              <a:t>S</a:t>
            </a:r>
            <a:r>
              <a:rPr lang="zh-CN" altLang="en-US" sz="900" dirty="0"/>
              <a:t>态的</a:t>
            </a:r>
            <a:r>
              <a:rPr lang="en-US" altLang="zh-CN" sz="900" dirty="0"/>
              <a:t>ra)</a:t>
            </a:r>
            <a:r>
              <a:rPr lang="zh-CN" altLang="en-US" sz="900" dirty="0"/>
              <a:t>：</a:t>
            </a:r>
            <a:r>
              <a:rPr lang="en-US" altLang="zh-CN" sz="900" dirty="0">
                <a:solidFill>
                  <a:srgbClr val="EE0000"/>
                </a:solidFill>
              </a:rPr>
              <a:t>ra</a:t>
            </a:r>
            <a:r>
              <a:rPr lang="zh-CN" altLang="en-US" sz="900" dirty="0"/>
              <a:t>指向</a:t>
            </a:r>
            <a:r>
              <a:rPr lang="en-US" altLang="zh-CN" sz="900" dirty="0"/>
              <a:t>__restore</a:t>
            </a:r>
            <a:r>
              <a:rPr lang="zh-CN" altLang="en-US" sz="900" dirty="0"/>
              <a:t>，</a:t>
            </a:r>
            <a:r>
              <a:rPr lang="en-US" altLang="zh-CN" sz="900" dirty="0">
                <a:solidFill>
                  <a:srgbClr val="EE0000"/>
                </a:solidFill>
              </a:rPr>
              <a:t>sp</a:t>
            </a:r>
            <a:r>
              <a:rPr lang="zh-CN" altLang="en-US" sz="900" dirty="0"/>
              <a:t>指向内核栈中保存</a:t>
            </a:r>
            <a:r>
              <a:rPr lang="en-US" altLang="zh-CN" sz="900" dirty="0"/>
              <a:t>trapcontext</a:t>
            </a:r>
            <a:r>
              <a:rPr lang="zh-CN" altLang="en-US" sz="900" dirty="0"/>
              <a:t>的地址。</a:t>
            </a:r>
            <a:endParaRPr lang="zh-CN" altLang="en-US" sz="900" dirty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30" y="50459"/>
            <a:ext cx="2279194" cy="443028"/>
          </a:xfrm>
          <a:prstGeom prst="rect">
            <a:avLst/>
          </a:prstGeom>
        </p:spPr>
      </p:pic>
      <p:cxnSp>
        <p:nvCxnSpPr>
          <p:cNvPr id="29" name="直接箭头连接符 28"/>
          <p:cNvCxnSpPr/>
          <p:nvPr/>
        </p:nvCxnSpPr>
        <p:spPr>
          <a:xfrm>
            <a:off x="203510" y="500282"/>
            <a:ext cx="7030" cy="4743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5" idx="3"/>
          </p:cNvCxnSpPr>
          <p:nvPr/>
        </p:nvCxnSpPr>
        <p:spPr>
          <a:xfrm>
            <a:off x="3168934" y="4024803"/>
            <a:ext cx="6192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stCxn id="7" idx="3"/>
            <a:endCxn id="15" idx="1"/>
          </p:cNvCxnSpPr>
          <p:nvPr/>
        </p:nvCxnSpPr>
        <p:spPr>
          <a:xfrm flipV="1">
            <a:off x="3788229" y="2136914"/>
            <a:ext cx="133319" cy="28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39" name="图片 3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9335" y="0"/>
            <a:ext cx="1499501" cy="724249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5166" y="14078"/>
            <a:ext cx="2100506" cy="1039813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80578" y="4102133"/>
            <a:ext cx="2175700" cy="2737442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8750" y="4692059"/>
            <a:ext cx="2633339" cy="1557591"/>
          </a:xfrm>
          <a:prstGeom prst="rect">
            <a:avLst/>
          </a:prstGeom>
        </p:spPr>
      </p:pic>
      <p:pic>
        <p:nvPicPr>
          <p:cNvPr id="51" name="图片 50" descr="文本&#10;&#10;描述已自动生成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8282" y="1184266"/>
            <a:ext cx="2402533" cy="1915656"/>
          </a:xfrm>
          <a:prstGeom prst="rect">
            <a:avLst/>
          </a:prstGeom>
        </p:spPr>
      </p:pic>
      <p:pic>
        <p:nvPicPr>
          <p:cNvPr id="53" name="图片 5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98282" y="3116110"/>
            <a:ext cx="2402534" cy="831207"/>
          </a:xfrm>
          <a:prstGeom prst="rect">
            <a:avLst/>
          </a:prstGeom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38847" y="1780656"/>
            <a:ext cx="2330189" cy="1557591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38848" y="3352669"/>
            <a:ext cx="2330189" cy="1152525"/>
          </a:xfrm>
          <a:prstGeom prst="rect">
            <a:avLst/>
          </a:prstGeom>
        </p:spPr>
      </p:pic>
      <p:cxnSp>
        <p:nvCxnSpPr>
          <p:cNvPr id="59" name="直接箭头连接符 58"/>
          <p:cNvCxnSpPr/>
          <p:nvPr/>
        </p:nvCxnSpPr>
        <p:spPr>
          <a:xfrm>
            <a:off x="9964587" y="737438"/>
            <a:ext cx="0" cy="3971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>
            <a:stCxn id="49" idx="1"/>
          </p:cNvCxnSpPr>
          <p:nvPr/>
        </p:nvCxnSpPr>
        <p:spPr>
          <a:xfrm flipH="1" flipV="1">
            <a:off x="5752873" y="5470854"/>
            <a:ext cx="53587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3" name="直接箭头连接符 72"/>
          <p:cNvCxnSpPr/>
          <p:nvPr/>
        </p:nvCxnSpPr>
        <p:spPr>
          <a:xfrm>
            <a:off x="5752873" y="3738106"/>
            <a:ext cx="10859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>
            <a:stCxn id="41" idx="3"/>
          </p:cNvCxnSpPr>
          <p:nvPr/>
        </p:nvCxnSpPr>
        <p:spPr>
          <a:xfrm flipV="1">
            <a:off x="8655672" y="533984"/>
            <a:ext cx="126366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8750309" y="64899"/>
            <a:ext cx="102926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/>
              <a:t>每次时钟中断都会调向</a:t>
            </a:r>
            <a:r>
              <a:rPr lang="en-US" altLang="zh-CN" sz="900" dirty="0"/>
              <a:t>stvec</a:t>
            </a:r>
            <a:r>
              <a:rPr lang="zh-CN" altLang="en-US" sz="900" dirty="0"/>
              <a:t>寄存器内的地址</a:t>
            </a:r>
            <a:endParaRPr lang="zh-CN" altLang="en-US" sz="900" dirty="0"/>
          </a:p>
        </p:txBody>
      </p:sp>
      <p:sp>
        <p:nvSpPr>
          <p:cNvPr id="78" name="文本框 77"/>
          <p:cNvSpPr txBox="1"/>
          <p:nvPr/>
        </p:nvSpPr>
        <p:spPr>
          <a:xfrm>
            <a:off x="79830" y="4717751"/>
            <a:ext cx="3553687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/>
              <a:t>依据传入的</a:t>
            </a:r>
            <a:r>
              <a:rPr lang="en-US" altLang="zh-CN" sz="900" dirty="0"/>
              <a:t>current/next_taskcontext_ptr</a:t>
            </a:r>
            <a:r>
              <a:rPr lang="zh-CN" altLang="en-US" sz="900" dirty="0"/>
              <a:t>来保存</a:t>
            </a:r>
            <a:r>
              <a:rPr lang="en-US" altLang="zh-CN" sz="900" dirty="0"/>
              <a:t>/</a:t>
            </a:r>
            <a:r>
              <a:rPr lang="zh-CN" altLang="en-US" sz="900" dirty="0"/>
              <a:t>恢复任务内核态中</a:t>
            </a:r>
            <a:r>
              <a:rPr lang="en-US" altLang="zh-CN" sz="900" dirty="0"/>
              <a:t>sp</a:t>
            </a:r>
            <a:r>
              <a:rPr lang="zh-CN" altLang="en-US" sz="900" dirty="0"/>
              <a:t>的指向以及</a:t>
            </a:r>
            <a:r>
              <a:rPr lang="en-US" altLang="zh-CN" sz="900" dirty="0"/>
              <a:t>ra</a:t>
            </a:r>
            <a:r>
              <a:rPr lang="zh-CN" altLang="en-US" sz="900" dirty="0"/>
              <a:t>的指向。</a:t>
            </a:r>
            <a:endParaRPr lang="en-US" altLang="zh-CN" sz="900" dirty="0"/>
          </a:p>
          <a:p>
            <a:endParaRPr lang="en-US" altLang="zh-CN" sz="900" dirty="0"/>
          </a:p>
          <a:p>
            <a:r>
              <a:rPr lang="zh-CN" altLang="en-US" sz="900" dirty="0"/>
              <a:t>初始化每个任务的</a:t>
            </a:r>
            <a:r>
              <a:rPr lang="en-US" altLang="zh-CN" sz="900" dirty="0"/>
              <a:t>taskcontext</a:t>
            </a:r>
            <a:r>
              <a:rPr lang="zh-CN" altLang="en-US" sz="900" dirty="0"/>
              <a:t>中的</a:t>
            </a:r>
            <a:r>
              <a:rPr lang="en-US" altLang="zh-CN" sz="900" dirty="0"/>
              <a:t>ra</a:t>
            </a:r>
            <a:r>
              <a:rPr lang="zh-CN" altLang="en-US" sz="900" dirty="0"/>
              <a:t>指向</a:t>
            </a:r>
            <a:r>
              <a:rPr lang="en-US" altLang="zh-CN" sz="900" dirty="0"/>
              <a:t>__restore</a:t>
            </a:r>
            <a:r>
              <a:rPr lang="zh-CN" altLang="en-US" sz="900" dirty="0"/>
              <a:t>，</a:t>
            </a:r>
            <a:r>
              <a:rPr lang="en-US" altLang="zh-CN" sz="900" dirty="0"/>
              <a:t>sp</a:t>
            </a:r>
            <a:r>
              <a:rPr lang="zh-CN" altLang="en-US" sz="900" dirty="0"/>
              <a:t>指向内核栈中保存</a:t>
            </a:r>
            <a:r>
              <a:rPr lang="en-US" altLang="zh-CN" sz="900" dirty="0"/>
              <a:t>trapcontext</a:t>
            </a:r>
            <a:r>
              <a:rPr lang="zh-CN" altLang="en-US" sz="900" dirty="0"/>
              <a:t>的地址，因此在此函数中通过新任务的</a:t>
            </a:r>
            <a:r>
              <a:rPr lang="en-US" altLang="zh-CN" sz="900" dirty="0"/>
              <a:t>taskcontext</a:t>
            </a:r>
            <a:r>
              <a:rPr lang="zh-CN" altLang="en-US" sz="900" dirty="0"/>
              <a:t>来恢复新任务的</a:t>
            </a:r>
            <a:r>
              <a:rPr lang="en-US" altLang="zh-CN" sz="900" dirty="0"/>
              <a:t>ra</a:t>
            </a:r>
            <a:r>
              <a:rPr lang="zh-CN" altLang="en-US" sz="900" dirty="0"/>
              <a:t>以及内核栈的</a:t>
            </a:r>
            <a:r>
              <a:rPr lang="en-US" altLang="zh-CN" sz="900" dirty="0"/>
              <a:t>sp</a:t>
            </a:r>
            <a:r>
              <a:rPr lang="zh-CN" altLang="en-US" sz="900" dirty="0"/>
              <a:t>，</a:t>
            </a:r>
            <a:r>
              <a:rPr lang="zh-CN" altLang="en-US" sz="900" dirty="0">
                <a:solidFill>
                  <a:srgbClr val="EE0000"/>
                </a:solidFill>
              </a:rPr>
              <a:t>通过换栈来实现切换任务</a:t>
            </a:r>
            <a:r>
              <a:rPr lang="zh-CN" altLang="en-US" sz="900" dirty="0"/>
              <a:t>；后续的</a:t>
            </a:r>
            <a:r>
              <a:rPr lang="en-US" altLang="zh-CN" sz="900" dirty="0"/>
              <a:t>__restore</a:t>
            </a:r>
            <a:r>
              <a:rPr lang="zh-CN" altLang="en-US" sz="900" dirty="0"/>
              <a:t>可以通过新任务的</a:t>
            </a:r>
            <a:r>
              <a:rPr lang="en-US" altLang="zh-CN" sz="900" dirty="0"/>
              <a:t>trapcontext</a:t>
            </a:r>
            <a:r>
              <a:rPr lang="zh-CN" altLang="en-US" sz="900" dirty="0"/>
              <a:t>来恢复到用户态。</a:t>
            </a:r>
            <a:endParaRPr lang="en-US" altLang="zh-CN" sz="900" dirty="0"/>
          </a:p>
          <a:p>
            <a:endParaRPr lang="en-US" altLang="zh-CN" sz="900" dirty="0"/>
          </a:p>
          <a:p>
            <a:r>
              <a:rPr lang="en-US" altLang="zh-CN" sz="900" dirty="0"/>
              <a:t>__switch</a:t>
            </a:r>
            <a:r>
              <a:rPr lang="zh-CN" altLang="en-US" sz="900" dirty="0"/>
              <a:t>会把被调用者保留的寄存器如</a:t>
            </a:r>
            <a:r>
              <a:rPr lang="en-US" altLang="zh-CN" sz="900" dirty="0"/>
              <a:t>ra,sp</a:t>
            </a:r>
            <a:r>
              <a:rPr lang="zh-CN" altLang="en-US" sz="900" dirty="0"/>
              <a:t>等保存进当前任务的</a:t>
            </a:r>
            <a:r>
              <a:rPr lang="en-US" altLang="zh-CN" sz="900" dirty="0"/>
              <a:t>taskcontext</a:t>
            </a:r>
            <a:r>
              <a:rPr lang="zh-CN" altLang="en-US" sz="900" dirty="0"/>
              <a:t>，等下次切换回来之后进行恢复</a:t>
            </a:r>
            <a:r>
              <a:rPr lang="en-US" altLang="zh-CN" sz="900" dirty="0"/>
              <a:t>.</a:t>
            </a:r>
            <a:r>
              <a:rPr lang="zh-CN" altLang="en-US" sz="900" dirty="0"/>
              <a:t> </a:t>
            </a:r>
            <a:r>
              <a:rPr lang="en-US" altLang="zh-CN" sz="900" dirty="0"/>
              <a:t>(</a:t>
            </a:r>
            <a:r>
              <a:rPr lang="zh-CN" altLang="en-US" sz="900" dirty="0"/>
              <a:t>这也是为什么调用了</a:t>
            </a:r>
            <a:r>
              <a:rPr lang="en-US" altLang="zh-CN" sz="900" dirty="0"/>
              <a:t>__switch</a:t>
            </a:r>
            <a:r>
              <a:rPr lang="zh-CN" altLang="en-US" sz="900" dirty="0"/>
              <a:t>函数会修改</a:t>
            </a:r>
            <a:r>
              <a:rPr lang="en-US" altLang="zh-CN" sz="900" dirty="0"/>
              <a:t>ra</a:t>
            </a:r>
            <a:r>
              <a:rPr lang="zh-CN" altLang="en-US" sz="900" dirty="0"/>
              <a:t>寄存器或者即使</a:t>
            </a:r>
            <a:r>
              <a:rPr lang="en-US" altLang="zh-CN" sz="900" dirty="0"/>
              <a:t>__switch</a:t>
            </a:r>
            <a:r>
              <a:rPr lang="zh-CN" altLang="en-US" sz="900" dirty="0"/>
              <a:t>后面内核态中还有代码，但是最终也能依据</a:t>
            </a:r>
            <a:r>
              <a:rPr lang="en-US" altLang="zh-CN" sz="900" dirty="0"/>
              <a:t>ra</a:t>
            </a:r>
            <a:r>
              <a:rPr lang="zh-CN" altLang="en-US" sz="900" dirty="0"/>
              <a:t>不断返回到到</a:t>
            </a:r>
            <a:r>
              <a:rPr lang="en-US" altLang="zh-CN" sz="900" dirty="0"/>
              <a:t>call handler</a:t>
            </a:r>
            <a:r>
              <a:rPr lang="zh-CN" altLang="en-US" sz="900" dirty="0"/>
              <a:t>时</a:t>
            </a:r>
            <a:r>
              <a:rPr lang="en-US" altLang="zh-CN" sz="900" dirty="0"/>
              <a:t>ra</a:t>
            </a:r>
            <a:r>
              <a:rPr lang="zh-CN" altLang="en-US" sz="900" dirty="0"/>
              <a:t>保存的</a:t>
            </a:r>
            <a:r>
              <a:rPr lang="en-US" altLang="zh-CN" sz="900" dirty="0"/>
              <a:t>__restore)</a:t>
            </a:r>
            <a:r>
              <a:rPr lang="zh-CN" altLang="en-US" sz="900" dirty="0"/>
              <a:t>，并且换栈之后随着函数的不断退出最终</a:t>
            </a:r>
            <a:r>
              <a:rPr lang="en-US" altLang="zh-CN" sz="900" dirty="0"/>
              <a:t>sp</a:t>
            </a:r>
            <a:r>
              <a:rPr lang="zh-CN" altLang="en-US" sz="900" dirty="0"/>
              <a:t>会指向新任务内核栈中的</a:t>
            </a:r>
            <a:r>
              <a:rPr lang="en-US" altLang="zh-CN" sz="900" dirty="0"/>
              <a:t>trapcontext</a:t>
            </a:r>
            <a:r>
              <a:rPr lang="zh-CN" altLang="en-US" sz="900" dirty="0"/>
              <a:t>。</a:t>
            </a:r>
            <a:endParaRPr lang="zh-CN" altLang="en-US" sz="900" dirty="0"/>
          </a:p>
        </p:txBody>
      </p:sp>
      <p:sp>
        <p:nvSpPr>
          <p:cNvPr id="79" name="文本框 78"/>
          <p:cNvSpPr txBox="1"/>
          <p:nvPr/>
        </p:nvSpPr>
        <p:spPr>
          <a:xfrm>
            <a:off x="5965892" y="1013435"/>
            <a:ext cx="324196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/>
              <a:t>恢复新任务内核栈中的</a:t>
            </a:r>
            <a:r>
              <a:rPr lang="en-US" altLang="zh-CN" sz="900" dirty="0"/>
              <a:t>trapcontext</a:t>
            </a:r>
            <a:r>
              <a:rPr lang="zh-CN" altLang="en-US" sz="900" dirty="0"/>
              <a:t>（</a:t>
            </a:r>
            <a:r>
              <a:rPr lang="en-US" altLang="zh-CN" sz="900" dirty="0">
                <a:solidFill>
                  <a:srgbClr val="EE0000"/>
                </a:solidFill>
              </a:rPr>
              <a:t>sp</a:t>
            </a:r>
            <a:r>
              <a:rPr lang="zh-CN" altLang="en-US" sz="900" dirty="0">
                <a:solidFill>
                  <a:srgbClr val="EE0000"/>
                </a:solidFill>
              </a:rPr>
              <a:t>指向内核栈，</a:t>
            </a:r>
            <a:r>
              <a:rPr lang="zh-CN" altLang="en-US" sz="900" dirty="0"/>
              <a:t>将</a:t>
            </a:r>
            <a:r>
              <a:rPr lang="zh-CN" altLang="en-US" sz="900" dirty="0">
                <a:solidFill>
                  <a:srgbClr val="EE0000"/>
                </a:solidFill>
              </a:rPr>
              <a:t>任务栈的</a:t>
            </a:r>
            <a:r>
              <a:rPr lang="en-US" altLang="zh-CN" sz="900" dirty="0">
                <a:solidFill>
                  <a:srgbClr val="EE0000"/>
                </a:solidFill>
              </a:rPr>
              <a:t>sp</a:t>
            </a:r>
            <a:r>
              <a:rPr lang="zh-CN" altLang="en-US" sz="900" dirty="0">
                <a:solidFill>
                  <a:srgbClr val="EE0000"/>
                </a:solidFill>
              </a:rPr>
              <a:t>临时存入</a:t>
            </a:r>
            <a:r>
              <a:rPr lang="en-US" altLang="zh-CN" sz="900" dirty="0">
                <a:solidFill>
                  <a:srgbClr val="EE0000"/>
                </a:solidFill>
              </a:rPr>
              <a:t>sscarch</a:t>
            </a:r>
            <a:r>
              <a:rPr lang="zh-CN" altLang="en-US" sz="900" dirty="0">
                <a:solidFill>
                  <a:srgbClr val="EE0000"/>
                </a:solidFill>
              </a:rPr>
              <a:t>寄存器，最后恢复</a:t>
            </a:r>
            <a:r>
              <a:rPr lang="en-US" altLang="zh-CN" sz="900" dirty="0">
                <a:solidFill>
                  <a:srgbClr val="EE0000"/>
                </a:solidFill>
              </a:rPr>
              <a:t>sp</a:t>
            </a:r>
            <a:r>
              <a:rPr lang="zh-CN" altLang="en-US" sz="900" dirty="0"/>
              <a:t>）。其他寄存器恢复完成后将此时新任务的</a:t>
            </a:r>
            <a:r>
              <a:rPr lang="zh-CN" altLang="en-US" sz="900" dirty="0">
                <a:solidFill>
                  <a:srgbClr val="EE0000"/>
                </a:solidFill>
              </a:rPr>
              <a:t>内核栈的</a:t>
            </a:r>
            <a:r>
              <a:rPr lang="en-US" altLang="zh-CN" sz="900" dirty="0">
                <a:solidFill>
                  <a:srgbClr val="EE0000"/>
                </a:solidFill>
              </a:rPr>
              <a:t>sp</a:t>
            </a:r>
            <a:r>
              <a:rPr lang="zh-CN" altLang="en-US" sz="900" dirty="0">
                <a:solidFill>
                  <a:srgbClr val="EE0000"/>
                </a:solidFill>
              </a:rPr>
              <a:t>存入</a:t>
            </a:r>
            <a:r>
              <a:rPr lang="en-US" altLang="zh-CN" sz="900" dirty="0">
                <a:solidFill>
                  <a:srgbClr val="EE0000"/>
                </a:solidFill>
              </a:rPr>
              <a:t>sscarch</a:t>
            </a:r>
            <a:r>
              <a:rPr lang="zh-CN" altLang="en-US" sz="900" dirty="0">
                <a:solidFill>
                  <a:srgbClr val="EE0000"/>
                </a:solidFill>
              </a:rPr>
              <a:t>寄存器</a:t>
            </a:r>
            <a:r>
              <a:rPr lang="en-US" altLang="zh-CN" sz="900" dirty="0"/>
              <a:t>,</a:t>
            </a:r>
            <a:r>
              <a:rPr lang="zh-CN" altLang="en-US" sz="900" dirty="0"/>
              <a:t>并恢复</a:t>
            </a:r>
            <a:r>
              <a:rPr lang="en-US" altLang="zh-CN" sz="900" dirty="0"/>
              <a:t>sscarch</a:t>
            </a:r>
            <a:r>
              <a:rPr lang="zh-CN" altLang="en-US" sz="900" dirty="0"/>
              <a:t>寄存器中任务栈的</a:t>
            </a:r>
            <a:r>
              <a:rPr lang="en-US" altLang="zh-CN" sz="900" dirty="0"/>
              <a:t>sp</a:t>
            </a:r>
            <a:r>
              <a:rPr lang="zh-CN" altLang="en-US" sz="900" dirty="0"/>
              <a:t>。</a:t>
            </a:r>
            <a:r>
              <a:rPr lang="en-US" altLang="zh-CN" sz="900" dirty="0"/>
              <a:t>(</a:t>
            </a:r>
            <a:r>
              <a:rPr lang="zh-CN" altLang="en-US" sz="900" dirty="0"/>
              <a:t>在</a:t>
            </a:r>
            <a:r>
              <a:rPr lang="en-US" altLang="zh-CN" sz="900" dirty="0"/>
              <a:t>__alltrap</a:t>
            </a:r>
            <a:r>
              <a:rPr lang="zh-CN" altLang="en-US" sz="900" dirty="0"/>
              <a:t>时可以找到内核栈中陷阱帧的地址</a:t>
            </a:r>
            <a:r>
              <a:rPr lang="en-US" altLang="zh-CN" sz="900" dirty="0"/>
              <a:t>)</a:t>
            </a:r>
            <a:endParaRPr lang="zh-CN" altLang="en-US" sz="900" dirty="0"/>
          </a:p>
        </p:txBody>
      </p:sp>
      <p:sp>
        <p:nvSpPr>
          <p:cNvPr id="82" name="文本框 81"/>
          <p:cNvSpPr txBox="1"/>
          <p:nvPr/>
        </p:nvSpPr>
        <p:spPr>
          <a:xfrm>
            <a:off x="9964587" y="690351"/>
            <a:ext cx="229206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/>
              <a:t>在</a:t>
            </a:r>
            <a:r>
              <a:rPr lang="en-US" altLang="zh-CN" sz="900" dirty="0"/>
              <a:t>__alltrap</a:t>
            </a:r>
            <a:r>
              <a:rPr lang="zh-CN" altLang="en-US" sz="900" dirty="0"/>
              <a:t>中通过</a:t>
            </a:r>
            <a:r>
              <a:rPr lang="en-US" altLang="zh-CN" sz="900" dirty="0"/>
              <a:t>sscarch</a:t>
            </a:r>
            <a:r>
              <a:rPr lang="zh-CN" altLang="en-US" sz="900" dirty="0"/>
              <a:t>寄存器找到此任务内核栈中存储陷阱帧的地址，</a:t>
            </a:r>
            <a:r>
              <a:rPr lang="zh-CN" altLang="en-US" sz="900" dirty="0">
                <a:solidFill>
                  <a:srgbClr val="EE0000"/>
                </a:solidFill>
              </a:rPr>
              <a:t>将任务栈的</a:t>
            </a:r>
            <a:r>
              <a:rPr lang="en-US" altLang="zh-CN" sz="900" dirty="0">
                <a:solidFill>
                  <a:srgbClr val="EE0000"/>
                </a:solidFill>
              </a:rPr>
              <a:t>sp</a:t>
            </a:r>
            <a:r>
              <a:rPr lang="zh-CN" altLang="en-US" sz="900" dirty="0">
                <a:solidFill>
                  <a:srgbClr val="EE0000"/>
                </a:solidFill>
              </a:rPr>
              <a:t>临时存入</a:t>
            </a:r>
            <a:r>
              <a:rPr lang="en-US" altLang="zh-CN" sz="900" dirty="0">
                <a:solidFill>
                  <a:srgbClr val="EE0000"/>
                </a:solidFill>
              </a:rPr>
              <a:t>sscarch</a:t>
            </a:r>
            <a:r>
              <a:rPr lang="zh-CN" altLang="en-US" sz="900" dirty="0">
                <a:solidFill>
                  <a:srgbClr val="EE0000"/>
                </a:solidFill>
              </a:rPr>
              <a:t>寄存器最后存储</a:t>
            </a:r>
            <a:r>
              <a:rPr lang="en-US" altLang="zh-CN" sz="900" dirty="0">
                <a:solidFill>
                  <a:srgbClr val="EE0000"/>
                </a:solidFill>
              </a:rPr>
              <a:t>sp</a:t>
            </a:r>
            <a:r>
              <a:rPr lang="zh-CN" altLang="en-US" sz="900" dirty="0"/>
              <a:t>。</a:t>
            </a:r>
            <a:endParaRPr lang="zh-CN" altLang="en-US" sz="900" dirty="0"/>
          </a:p>
        </p:txBody>
      </p:sp>
      <p:cxnSp>
        <p:nvCxnSpPr>
          <p:cNvPr id="87" name="直接箭头连接符 86"/>
          <p:cNvCxnSpPr>
            <a:stCxn id="47" idx="1"/>
            <a:endCxn id="49" idx="3"/>
          </p:cNvCxnSpPr>
          <p:nvPr/>
        </p:nvCxnSpPr>
        <p:spPr>
          <a:xfrm flipH="1">
            <a:off x="8922089" y="5470854"/>
            <a:ext cx="65848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1" name="直接箭头连接符 90"/>
          <p:cNvCxnSpPr>
            <a:stCxn id="53" idx="2"/>
            <a:endCxn id="47" idx="0"/>
          </p:cNvCxnSpPr>
          <p:nvPr/>
        </p:nvCxnSpPr>
        <p:spPr>
          <a:xfrm flipH="1">
            <a:off x="10668428" y="3947317"/>
            <a:ext cx="31121" cy="1548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5012" y="1090959"/>
            <a:ext cx="4308606" cy="104981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159" y="2383225"/>
            <a:ext cx="3427952" cy="186462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5159" y="4717227"/>
            <a:ext cx="4044551" cy="2062264"/>
          </a:xfrm>
          <a:prstGeom prst="rect">
            <a:avLst/>
          </a:prstGeom>
        </p:spPr>
      </p:pic>
      <p:cxnSp>
        <p:nvCxnSpPr>
          <p:cNvPr id="7" name="直接箭头连接符 6"/>
          <p:cNvCxnSpPr/>
          <p:nvPr/>
        </p:nvCxnSpPr>
        <p:spPr>
          <a:xfrm>
            <a:off x="7226256" y="769769"/>
            <a:ext cx="0" cy="3211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>
            <a:off x="7226256" y="2140772"/>
            <a:ext cx="0" cy="2424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7382288" y="4237705"/>
            <a:ext cx="22947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分配出去的页</a:t>
            </a:r>
            <a:r>
              <a:rPr lang="en-US" altLang="zh-CN" sz="1000" dirty="0"/>
              <a:t>dealloc</a:t>
            </a:r>
            <a:r>
              <a:rPr lang="zh-CN" altLang="en-US" sz="1000" dirty="0"/>
              <a:t>是放入栈中，</a:t>
            </a:r>
            <a:r>
              <a:rPr lang="en-US" altLang="zh-CN" sz="1000" dirty="0">
                <a:solidFill>
                  <a:srgbClr val="EE0000"/>
                </a:solidFill>
              </a:rPr>
              <a:t>current</a:t>
            </a:r>
            <a:r>
              <a:rPr lang="zh-CN" altLang="en-US" sz="1000" dirty="0">
                <a:solidFill>
                  <a:srgbClr val="EE0000"/>
                </a:solidFill>
              </a:rPr>
              <a:t>是单增</a:t>
            </a:r>
            <a:r>
              <a:rPr lang="zh-CN" altLang="en-US" sz="1000" dirty="0"/>
              <a:t>的永不减小。</a:t>
            </a:r>
            <a:endParaRPr lang="zh-CN" altLang="en-US" sz="10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5160" y="167515"/>
            <a:ext cx="1922192" cy="602254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0" y="115910"/>
            <a:ext cx="3098951" cy="3986011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318" y="4768589"/>
            <a:ext cx="3730337" cy="1850366"/>
          </a:xfrm>
          <a:prstGeom prst="rect">
            <a:avLst/>
          </a:prstGeom>
        </p:spPr>
      </p:pic>
      <p:cxnSp>
        <p:nvCxnSpPr>
          <p:cNvPr id="16" name="直接箭头连接符 15"/>
          <p:cNvCxnSpPr/>
          <p:nvPr/>
        </p:nvCxnSpPr>
        <p:spPr>
          <a:xfrm>
            <a:off x="7084291" y="4237705"/>
            <a:ext cx="0" cy="4795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0" y="115910"/>
            <a:ext cx="3098951" cy="3986011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199" y="4982216"/>
            <a:ext cx="2979029" cy="1316984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187050" y="4247450"/>
            <a:ext cx="301105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将</a:t>
            </a:r>
            <a:r>
              <a:rPr lang="en-US" altLang="zh-CN" sz="1000" dirty="0"/>
              <a:t>kernelend</a:t>
            </a:r>
            <a:r>
              <a:rPr lang="zh-CN" altLang="en-US" sz="1000" dirty="0"/>
              <a:t>到</a:t>
            </a:r>
            <a:r>
              <a:rPr lang="en-US" altLang="zh-CN" sz="1000" dirty="0"/>
              <a:t>PHYSTOP</a:t>
            </a:r>
            <a:r>
              <a:rPr lang="zh-CN" altLang="en-US" sz="1000" dirty="0"/>
              <a:t>之间</a:t>
            </a:r>
            <a:r>
              <a:rPr lang="en-US" altLang="zh-CN" sz="1000" dirty="0"/>
              <a:t>128MB</a:t>
            </a:r>
            <a:r>
              <a:rPr lang="zh-CN" altLang="en-US" sz="1000" dirty="0"/>
              <a:t>的可用内存交给栈式内存管理器来管理。</a:t>
            </a:r>
            <a:endParaRPr lang="en-US" altLang="zh-CN" sz="1000" dirty="0"/>
          </a:p>
          <a:p>
            <a:endParaRPr lang="en-US" altLang="zh-CN" sz="1000" dirty="0"/>
          </a:p>
          <a:p>
            <a:r>
              <a:rPr lang="zh-CN" altLang="en-US" sz="1000" dirty="0">
                <a:solidFill>
                  <a:srgbClr val="EE0000"/>
                </a:solidFill>
              </a:rPr>
              <a:t>本质是创建一个页表</a:t>
            </a:r>
            <a:r>
              <a:rPr lang="en-US" altLang="zh-CN" sz="1000" dirty="0">
                <a:solidFill>
                  <a:srgbClr val="EE0000"/>
                </a:solidFill>
              </a:rPr>
              <a:t>token</a:t>
            </a:r>
            <a:r>
              <a:rPr lang="zh-CN" altLang="en-US" sz="1000" dirty="0">
                <a:solidFill>
                  <a:srgbClr val="EE0000"/>
                </a:solidFill>
              </a:rPr>
              <a:t>，使得内核的虚拟地址与物理地址进行恒等映射。（为什么？）</a:t>
            </a:r>
            <a:endParaRPr lang="en-US" altLang="zh-CN" sz="1000" dirty="0">
              <a:solidFill>
                <a:srgbClr val="EE0000"/>
              </a:solidFill>
            </a:endParaRPr>
          </a:p>
          <a:p>
            <a:r>
              <a:rPr lang="zh-CN" altLang="en-US" sz="1000" dirty="0"/>
              <a:t>将</a:t>
            </a:r>
            <a:r>
              <a:rPr lang="en-US" altLang="zh-CN" sz="1000" dirty="0"/>
              <a:t>kernelbase</a:t>
            </a:r>
            <a:r>
              <a:rPr lang="zh-CN" altLang="en-US" sz="1000" dirty="0"/>
              <a:t>到</a:t>
            </a:r>
            <a:r>
              <a:rPr lang="en-US" altLang="zh-CN" sz="1000" dirty="0"/>
              <a:t>etext</a:t>
            </a:r>
            <a:r>
              <a:rPr lang="zh-CN" altLang="en-US" sz="1000" dirty="0"/>
              <a:t>之间的代码段页恒等映射为可读可执行属性；</a:t>
            </a:r>
            <a:endParaRPr lang="en-US" altLang="zh-CN" sz="1000" dirty="0"/>
          </a:p>
          <a:p>
            <a:r>
              <a:rPr lang="zh-CN" altLang="en-US" sz="1000" dirty="0"/>
              <a:t>将</a:t>
            </a:r>
            <a:r>
              <a:rPr lang="en-US" altLang="zh-CN" sz="1000" dirty="0"/>
              <a:t>etext</a:t>
            </a:r>
            <a:r>
              <a:rPr lang="zh-CN" altLang="en-US" sz="1000" dirty="0"/>
              <a:t>到</a:t>
            </a:r>
            <a:r>
              <a:rPr lang="en-US" altLang="zh-CN" sz="1000" dirty="0"/>
              <a:t>PHYSTOP</a:t>
            </a:r>
            <a:r>
              <a:rPr lang="zh-CN" altLang="en-US" sz="1000" dirty="0"/>
              <a:t>之间的页恒等映射为可读可写属性。</a:t>
            </a:r>
            <a:endParaRPr lang="en-US" altLang="zh-CN" sz="1000" dirty="0"/>
          </a:p>
          <a:p>
            <a:endParaRPr lang="en-US" altLang="zh-CN" sz="1000" dirty="0"/>
          </a:p>
          <a:p>
            <a:r>
              <a:rPr lang="zh-CN" altLang="en-US" sz="1000" dirty="0"/>
              <a:t>首个进程的三级页表位于</a:t>
            </a:r>
            <a:r>
              <a:rPr lang="en-US" altLang="zh-CN" sz="1000" dirty="0"/>
              <a:t>kernelend</a:t>
            </a:r>
            <a:r>
              <a:rPr lang="zh-CN" altLang="en-US" sz="1000" dirty="0"/>
              <a:t>往上的空闲页。</a:t>
            </a:r>
            <a:endParaRPr lang="zh-CN" altLang="en-US" sz="1000" dirty="0"/>
          </a:p>
        </p:txBody>
      </p:sp>
      <p:sp>
        <p:nvSpPr>
          <p:cNvPr id="44" name="文本框 43"/>
          <p:cNvSpPr txBox="1"/>
          <p:nvPr/>
        </p:nvSpPr>
        <p:spPr>
          <a:xfrm>
            <a:off x="7947497" y="594279"/>
            <a:ext cx="19221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Sv39</a:t>
            </a:r>
            <a:r>
              <a:rPr lang="zh-CN" altLang="en-US" sz="1000" dirty="0"/>
              <a:t>分页中，</a:t>
            </a:r>
            <a:r>
              <a:rPr lang="zh-CN" altLang="en-US" sz="1000" dirty="0">
                <a:solidFill>
                  <a:srgbClr val="EE0000"/>
                </a:solidFill>
              </a:rPr>
              <a:t>虚拟地址每</a:t>
            </a:r>
            <a:r>
              <a:rPr lang="en-US" altLang="zh-CN" sz="1000" dirty="0">
                <a:solidFill>
                  <a:srgbClr val="EE0000"/>
                </a:solidFill>
              </a:rPr>
              <a:t>9</a:t>
            </a:r>
            <a:r>
              <a:rPr lang="zh-CN" altLang="en-US" sz="1000" dirty="0">
                <a:solidFill>
                  <a:srgbClr val="EE0000"/>
                </a:solidFill>
              </a:rPr>
              <a:t>位相同的都是跳转去同一个页表项</a:t>
            </a:r>
            <a:r>
              <a:rPr lang="zh-CN" altLang="en-US" sz="1000" dirty="0"/>
              <a:t>。</a:t>
            </a:r>
            <a:endParaRPr lang="zh-CN" altLang="en-US" sz="1000" dirty="0"/>
          </a:p>
        </p:txBody>
      </p:sp>
      <p:sp>
        <p:nvSpPr>
          <p:cNvPr id="46" name="文本框 45"/>
          <p:cNvSpPr txBox="1"/>
          <p:nvPr/>
        </p:nvSpPr>
        <p:spPr>
          <a:xfrm>
            <a:off x="10018503" y="603515"/>
            <a:ext cx="17505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solidFill>
                  <a:srgbClr val="EE0000"/>
                </a:solidFill>
              </a:rPr>
              <a:t>一级页表只需要一页，后续列表需要很多页。</a:t>
            </a:r>
            <a:endParaRPr lang="zh-CN" altLang="en-US" sz="1000" dirty="0">
              <a:solidFill>
                <a:srgbClr val="EE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0760" y="0"/>
            <a:ext cx="1827785" cy="77618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8048" y="1413215"/>
            <a:ext cx="3931425" cy="170543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8048" y="3970008"/>
            <a:ext cx="3881986" cy="2329192"/>
          </a:xfrm>
          <a:prstGeom prst="rect">
            <a:avLst/>
          </a:prstGeom>
        </p:spPr>
      </p:pic>
      <p:cxnSp>
        <p:nvCxnSpPr>
          <p:cNvPr id="14" name="直接箭头连接符 13"/>
          <p:cNvCxnSpPr>
            <a:stCxn id="4" idx="2"/>
          </p:cNvCxnSpPr>
          <p:nvPr/>
        </p:nvCxnSpPr>
        <p:spPr>
          <a:xfrm flipH="1">
            <a:off x="4534652" y="776183"/>
            <a:ext cx="1" cy="6370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" name="连接符: 肘形 37"/>
          <p:cNvCxnSpPr>
            <a:stCxn id="10" idx="3"/>
          </p:cNvCxnSpPr>
          <p:nvPr/>
        </p:nvCxnSpPr>
        <p:spPr>
          <a:xfrm flipV="1">
            <a:off x="7500034" y="1086120"/>
            <a:ext cx="2503925" cy="4048484"/>
          </a:xfrm>
          <a:prstGeom prst="bentConnector4">
            <a:avLst>
              <a:gd name="adj1" fmla="val 8935"/>
              <a:gd name="adj2" fmla="val 118879"/>
            </a:avLst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>
            <a:off x="4534652" y="3118650"/>
            <a:ext cx="0" cy="8513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/>
          <p:nvPr/>
        </p:nvCxnSpPr>
        <p:spPr>
          <a:xfrm>
            <a:off x="10003959" y="4367280"/>
            <a:ext cx="14544" cy="6149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2" name="文本框 51"/>
          <p:cNvSpPr txBox="1"/>
          <p:nvPr/>
        </p:nvSpPr>
        <p:spPr>
          <a:xfrm>
            <a:off x="5448545" y="115910"/>
            <a:ext cx="213924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在内核的虚拟地址空间创建一个全局变量存储内核的</a:t>
            </a:r>
            <a:r>
              <a:rPr lang="en-US" altLang="zh-CN" sz="1000" dirty="0"/>
              <a:t>token</a:t>
            </a:r>
            <a:r>
              <a:rPr lang="zh-CN" altLang="en-US" sz="1000" dirty="0"/>
              <a:t>。</a:t>
            </a:r>
            <a:r>
              <a:rPr lang="en-US" altLang="zh-CN" sz="1000" dirty="0"/>
              <a:t>(</a:t>
            </a:r>
            <a:r>
              <a:rPr lang="zh-CN" altLang="en-US" sz="1000" dirty="0">
                <a:solidFill>
                  <a:srgbClr val="EE0000"/>
                </a:solidFill>
              </a:rPr>
              <a:t>存储根页表的页号</a:t>
            </a:r>
            <a:r>
              <a:rPr lang="en-US" altLang="zh-CN" sz="1000" dirty="0"/>
              <a:t>)</a:t>
            </a:r>
            <a:endParaRPr lang="zh-CN" altLang="en-US" sz="1000" dirty="0"/>
          </a:p>
        </p:txBody>
      </p:sp>
      <p:pic>
        <p:nvPicPr>
          <p:cNvPr id="54" name="图片 5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0247" y="1095356"/>
            <a:ext cx="4084307" cy="34654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1888</Words>
  <Application>WPS 演示</Application>
  <PresentationFormat>宽屏</PresentationFormat>
  <Paragraphs>96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宋体</vt:lpstr>
      <vt:lpstr>Wingdings</vt:lpstr>
      <vt:lpstr>等线</vt:lpstr>
      <vt:lpstr>微软雅黑</vt:lpstr>
      <vt:lpstr>Arial Unicode MS</vt:lpstr>
      <vt:lpstr>等线 Light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锦艺 陈</dc:creator>
  <cp:lastModifiedBy>qzuser</cp:lastModifiedBy>
  <cp:revision>133</cp:revision>
  <dcterms:created xsi:type="dcterms:W3CDTF">2025-09-17T10:40:00Z</dcterms:created>
  <dcterms:modified xsi:type="dcterms:W3CDTF">2025-10-13T06:44:19Z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8ADCC741A5764463932CED0095704138_12</vt:lpwstr>
  </property>
  <property fmtid="{D5CDD505-2E9C-101B-9397-08002B2CF9AE}" pid="3" name="KSOProductBuildVer">
    <vt:lpwstr>2052-12.1.0.22529</vt:lpwstr>
  </property>
</Properties>
</file>